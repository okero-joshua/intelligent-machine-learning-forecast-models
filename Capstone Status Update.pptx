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Tahoma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Tahoma-regular.fntdata"/><Relationship Id="rId14" Type="http://schemas.openxmlformats.org/officeDocument/2006/relationships/slide" Target="slides/slide8.xml"/><Relationship Id="rId16" Type="http://schemas.openxmlformats.org/officeDocument/2006/relationships/font" Target="fonts/Tahom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686f54541d_1_36:notes"/>
          <p:cNvSpPr txBox="1"/>
          <p:nvPr>
            <p:ph idx="1" type="body"/>
          </p:nvPr>
        </p:nvSpPr>
        <p:spPr>
          <a:xfrm>
            <a:off x="685794" y="4343376"/>
            <a:ext cx="5486397" cy="411478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686f54541d_1_36:notes"/>
          <p:cNvSpPr/>
          <p:nvPr>
            <p:ph idx="2" type="sldImg"/>
          </p:nvPr>
        </p:nvSpPr>
        <p:spPr>
          <a:xfrm>
            <a:off x="555952" y="685782"/>
            <a:ext cx="574676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86f54541d_1_44:notes"/>
          <p:cNvSpPr txBox="1"/>
          <p:nvPr>
            <p:ph idx="1" type="body"/>
          </p:nvPr>
        </p:nvSpPr>
        <p:spPr>
          <a:xfrm>
            <a:off x="685794" y="4343376"/>
            <a:ext cx="5486397" cy="411478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686f54541d_1_44:notes"/>
          <p:cNvSpPr/>
          <p:nvPr>
            <p:ph idx="2" type="sldImg"/>
          </p:nvPr>
        </p:nvSpPr>
        <p:spPr>
          <a:xfrm>
            <a:off x="555952" y="685782"/>
            <a:ext cx="574676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86f54541d_1_56:notes"/>
          <p:cNvSpPr txBox="1"/>
          <p:nvPr>
            <p:ph idx="1" type="body"/>
          </p:nvPr>
        </p:nvSpPr>
        <p:spPr>
          <a:xfrm>
            <a:off x="685794" y="4343376"/>
            <a:ext cx="5486397" cy="411478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686f54541d_1_56:notes"/>
          <p:cNvSpPr/>
          <p:nvPr>
            <p:ph idx="2" type="sldImg"/>
          </p:nvPr>
        </p:nvSpPr>
        <p:spPr>
          <a:xfrm>
            <a:off x="555952" y="685782"/>
            <a:ext cx="574676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686f54541d_1_74:notes"/>
          <p:cNvSpPr txBox="1"/>
          <p:nvPr>
            <p:ph idx="1" type="body"/>
          </p:nvPr>
        </p:nvSpPr>
        <p:spPr>
          <a:xfrm>
            <a:off x="685794" y="4343376"/>
            <a:ext cx="5486397" cy="411478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686f54541d_1_74:notes"/>
          <p:cNvSpPr/>
          <p:nvPr>
            <p:ph idx="2" type="sldImg"/>
          </p:nvPr>
        </p:nvSpPr>
        <p:spPr>
          <a:xfrm>
            <a:off x="555952" y="685782"/>
            <a:ext cx="574676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86f54541d_1_107:notes"/>
          <p:cNvSpPr txBox="1"/>
          <p:nvPr>
            <p:ph idx="1" type="body"/>
          </p:nvPr>
        </p:nvSpPr>
        <p:spPr>
          <a:xfrm>
            <a:off x="685794" y="4343376"/>
            <a:ext cx="5486397" cy="411478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686f54541d_1_107:notes"/>
          <p:cNvSpPr/>
          <p:nvPr>
            <p:ph idx="2" type="sldImg"/>
          </p:nvPr>
        </p:nvSpPr>
        <p:spPr>
          <a:xfrm>
            <a:off x="555952" y="685782"/>
            <a:ext cx="574676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86f54541d_1_138:notes"/>
          <p:cNvSpPr txBox="1"/>
          <p:nvPr>
            <p:ph idx="1" type="body"/>
          </p:nvPr>
        </p:nvSpPr>
        <p:spPr>
          <a:xfrm>
            <a:off x="685794" y="4343376"/>
            <a:ext cx="5486397" cy="411478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686f54541d_1_138:notes"/>
          <p:cNvSpPr/>
          <p:nvPr>
            <p:ph idx="2" type="sldImg"/>
          </p:nvPr>
        </p:nvSpPr>
        <p:spPr>
          <a:xfrm>
            <a:off x="555952" y="685782"/>
            <a:ext cx="574676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686f54541d_1_173:notes"/>
          <p:cNvSpPr txBox="1"/>
          <p:nvPr>
            <p:ph idx="1" type="body"/>
          </p:nvPr>
        </p:nvSpPr>
        <p:spPr>
          <a:xfrm>
            <a:off x="685794" y="4343376"/>
            <a:ext cx="5486397" cy="411478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686f54541d_1_173:notes"/>
          <p:cNvSpPr/>
          <p:nvPr>
            <p:ph idx="2" type="sldImg"/>
          </p:nvPr>
        </p:nvSpPr>
        <p:spPr>
          <a:xfrm>
            <a:off x="555952" y="685782"/>
            <a:ext cx="574676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686f54541d_1_214:notes"/>
          <p:cNvSpPr txBox="1"/>
          <p:nvPr>
            <p:ph idx="1" type="body"/>
          </p:nvPr>
        </p:nvSpPr>
        <p:spPr>
          <a:xfrm>
            <a:off x="685794" y="4343376"/>
            <a:ext cx="5486397" cy="4114782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686f54541d_1_214:notes"/>
          <p:cNvSpPr/>
          <p:nvPr>
            <p:ph idx="2" type="sldImg"/>
          </p:nvPr>
        </p:nvSpPr>
        <p:spPr>
          <a:xfrm>
            <a:off x="555952" y="685782"/>
            <a:ext cx="5746768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/>
          <p:nvPr/>
        </p:nvSpPr>
        <p:spPr>
          <a:xfrm>
            <a:off x="0" y="0"/>
            <a:ext cx="9144000" cy="388352"/>
          </a:xfrm>
          <a:custGeom>
            <a:rect b="b" l="l" r="r" t="t"/>
            <a:pathLst>
              <a:path extrusionOk="0" h="571500" w="10706100">
                <a:moveTo>
                  <a:pt x="10706099" y="571499"/>
                </a:moveTo>
                <a:lnTo>
                  <a:pt x="0" y="5714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571499"/>
                </a:lnTo>
                <a:close/>
              </a:path>
            </a:pathLst>
          </a:custGeom>
          <a:solidFill>
            <a:srgbClr val="432DD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22697" y="2075523"/>
            <a:ext cx="3762273" cy="10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1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1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000" cy="440132"/>
          </a:xfrm>
          <a:custGeom>
            <a:rect b="b" l="l" r="r" t="t"/>
            <a:pathLst>
              <a:path extrusionOk="0" h="647700" w="10706100">
                <a:moveTo>
                  <a:pt x="10706099" y="647699"/>
                </a:moveTo>
                <a:lnTo>
                  <a:pt x="0" y="6476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647699"/>
                </a:lnTo>
                <a:close/>
              </a:path>
            </a:pathLst>
          </a:custGeom>
          <a:solidFill>
            <a:srgbClr val="432DD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8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22697" y="2075523"/>
            <a:ext cx="3762273" cy="1096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1100" u="none" cap="none" strike="noStrike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25400">
              <a:lnSpc>
                <a:spcPct val="100000"/>
              </a:lnSpc>
              <a:spcBef>
                <a:spcPts val="0"/>
              </a:spcBef>
              <a:buNone/>
              <a:defRPr b="0" i="0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92724" cy="513917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>
            <p:ph type="title"/>
          </p:nvPr>
        </p:nvSpPr>
        <p:spPr>
          <a:xfrm>
            <a:off x="1944875" y="1483050"/>
            <a:ext cx="5685000" cy="9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875">
            <a:spAutoFit/>
          </a:bodyPr>
          <a:lstStyle/>
          <a:p>
            <a:pPr indent="-1295400" lvl="0" marL="130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629AB"/>
                </a:solidFill>
              </a:rPr>
              <a:t>DKomplex: DKODE- Intelligent</a:t>
            </a:r>
            <a:endParaRPr sz="2900">
              <a:solidFill>
                <a:srgbClr val="3629AB"/>
              </a:solidFill>
            </a:endParaRPr>
          </a:p>
          <a:p>
            <a:pPr indent="-1295400" lvl="0" marL="130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3629AB"/>
                </a:solidFill>
              </a:rPr>
              <a:t>      Pricing Forecast Model</a:t>
            </a:r>
            <a:endParaRPr sz="2900"/>
          </a:p>
        </p:txBody>
      </p:sp>
      <p:sp>
        <p:nvSpPr>
          <p:cNvPr id="92" name="Google Shape;92;p19"/>
          <p:cNvSpPr txBox="1"/>
          <p:nvPr/>
        </p:nvSpPr>
        <p:spPr>
          <a:xfrm>
            <a:off x="3049475" y="2571750"/>
            <a:ext cx="2880000" cy="17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Team Members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95565"/>
                </a:solidFill>
                <a:latin typeface="Verdana"/>
                <a:ea typeface="Verdana"/>
                <a:cs typeface="Verdana"/>
                <a:sym typeface="Verdana"/>
              </a:rPr>
              <a:t>Chika Starks, Daniel Arias, Deborah Shaw, Joshua Okero, Nicole Al-Sabah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Mentor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95565"/>
                </a:solidFill>
                <a:latin typeface="Verdana"/>
                <a:ea typeface="Verdana"/>
                <a:cs typeface="Verdana"/>
                <a:sym typeface="Verdana"/>
              </a:rPr>
              <a:t>Justin Loza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7189086" y="4800456"/>
            <a:ext cx="1705687" cy="125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rPr>
              <a:t>Summer 2025 Capstone Project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/>
          <p:nvPr/>
        </p:nvSpPr>
        <p:spPr>
          <a:xfrm>
            <a:off x="0" y="0"/>
            <a:ext cx="9144000" cy="440132"/>
          </a:xfrm>
          <a:custGeom>
            <a:rect b="b" l="l" r="r" t="t"/>
            <a:pathLst>
              <a:path extrusionOk="0" h="647700" w="10706100">
                <a:moveTo>
                  <a:pt x="10706099" y="647699"/>
                </a:moveTo>
                <a:lnTo>
                  <a:pt x="0" y="6476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647699"/>
                </a:lnTo>
                <a:close/>
              </a:path>
            </a:pathLst>
          </a:custGeom>
          <a:solidFill>
            <a:srgbClr val="432DD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99" name="Google Shape;99;p20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grpSp>
        <p:nvGrpSpPr>
          <p:cNvPr id="100" name="Google Shape;100;p20"/>
          <p:cNvGrpSpPr/>
          <p:nvPr/>
        </p:nvGrpSpPr>
        <p:grpSpPr>
          <a:xfrm>
            <a:off x="927416" y="1585769"/>
            <a:ext cx="7289167" cy="673331"/>
            <a:chOff x="1085849" y="2333625"/>
            <a:chExt cx="8534400" cy="990877"/>
          </a:xfrm>
        </p:grpSpPr>
        <p:sp>
          <p:nvSpPr>
            <p:cNvPr id="101" name="Google Shape;101;p20"/>
            <p:cNvSpPr/>
            <p:nvPr/>
          </p:nvSpPr>
          <p:spPr>
            <a:xfrm>
              <a:off x="1104899" y="2333625"/>
              <a:ext cx="8515350" cy="990600"/>
            </a:xfrm>
            <a:custGeom>
              <a:rect b="b" l="l" r="r" t="t"/>
              <a:pathLst>
                <a:path extrusionOk="0" h="990600" w="8515350">
                  <a:moveTo>
                    <a:pt x="8444153" y="990599"/>
                  </a:moveTo>
                  <a:lnTo>
                    <a:pt x="53397" y="990599"/>
                  </a:lnTo>
                  <a:lnTo>
                    <a:pt x="49681" y="990111"/>
                  </a:lnTo>
                  <a:lnTo>
                    <a:pt x="14085" y="964743"/>
                  </a:lnTo>
                  <a:lnTo>
                    <a:pt x="366" y="924357"/>
                  </a:lnTo>
                  <a:lnTo>
                    <a:pt x="0" y="919402"/>
                  </a:lnTo>
                  <a:lnTo>
                    <a:pt x="0" y="9143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8444153" y="0"/>
                  </a:lnTo>
                  <a:lnTo>
                    <a:pt x="8485643" y="15621"/>
                  </a:lnTo>
                  <a:lnTo>
                    <a:pt x="8511461" y="51661"/>
                  </a:lnTo>
                  <a:lnTo>
                    <a:pt x="8515348" y="71196"/>
                  </a:lnTo>
                  <a:lnTo>
                    <a:pt x="8515348" y="919402"/>
                  </a:lnTo>
                  <a:lnTo>
                    <a:pt x="8499727" y="960894"/>
                  </a:lnTo>
                  <a:lnTo>
                    <a:pt x="8463686" y="986713"/>
                  </a:lnTo>
                  <a:lnTo>
                    <a:pt x="8449108" y="990111"/>
                  </a:lnTo>
                  <a:lnTo>
                    <a:pt x="8444153" y="990599"/>
                  </a:lnTo>
                  <a:close/>
                </a:path>
              </a:pathLst>
            </a:custGeom>
            <a:solidFill>
              <a:srgbClr val="EDF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02" name="Google Shape;102;p20"/>
            <p:cNvSpPr/>
            <p:nvPr/>
          </p:nvSpPr>
          <p:spPr>
            <a:xfrm>
              <a:off x="1085849" y="2333902"/>
              <a:ext cx="70485" cy="990600"/>
            </a:xfrm>
            <a:custGeom>
              <a:rect b="b" l="l" r="r" t="t"/>
              <a:pathLst>
                <a:path extrusionOk="0" h="990600" w="70484">
                  <a:moveTo>
                    <a:pt x="70450" y="990044"/>
                  </a:moveTo>
                  <a:lnTo>
                    <a:pt x="33857" y="977491"/>
                  </a:lnTo>
                  <a:lnTo>
                    <a:pt x="5800" y="943282"/>
                  </a:lnTo>
                  <a:lnTo>
                    <a:pt x="0" y="914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914122"/>
                  </a:lnTo>
                  <a:lnTo>
                    <a:pt x="44514" y="956464"/>
                  </a:lnTo>
                  <a:lnTo>
                    <a:pt x="66287" y="988388"/>
                  </a:lnTo>
                  <a:lnTo>
                    <a:pt x="70450" y="990044"/>
                  </a:lnTo>
                  <a:close/>
                </a:path>
              </a:pathLst>
            </a:custGeom>
            <a:solidFill>
              <a:srgbClr val="615E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03" name="Google Shape;103;p20"/>
          <p:cNvSpPr txBox="1"/>
          <p:nvPr/>
        </p:nvSpPr>
        <p:spPr>
          <a:xfrm>
            <a:off x="916575" y="1713047"/>
            <a:ext cx="7264200" cy="24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215900" marR="64770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1D2938"/>
                </a:solidFill>
                <a:latin typeface="Arial"/>
                <a:ea typeface="Arial"/>
                <a:cs typeface="Arial"/>
                <a:sym typeface="Arial"/>
              </a:rPr>
              <a:t>"How can DKomplex predict optimal pricing for plastic products without consistent data schemas and competitor information?"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15900" rtl="0" algn="l">
              <a:lnSpc>
                <a:spcPct val="116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2938"/>
                </a:solidFill>
                <a:latin typeface="Verdana"/>
                <a:ea typeface="Verdana"/>
                <a:cs typeface="Verdana"/>
                <a:sym typeface="Verdana"/>
              </a:rPr>
              <a:t>DKomplex is facing challenges with inconsistent data schemas across quotes, opportunities, and orders systems.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167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2938"/>
                </a:solidFill>
                <a:latin typeface="Verdana"/>
                <a:ea typeface="Verdana"/>
                <a:cs typeface="Verdana"/>
                <a:sym typeface="Verdana"/>
              </a:rPr>
              <a:t>Data quality issues include missing values, inconsistent naming conventions, and internal sales that compromise historical pricing integrity.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152400" rtl="0" algn="l">
              <a:lnSpc>
                <a:spcPct val="1167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D2938"/>
                </a:solidFill>
                <a:latin typeface="Verdana"/>
                <a:ea typeface="Verdana"/>
                <a:cs typeface="Verdana"/>
                <a:sym typeface="Verdana"/>
              </a:rPr>
              <a:t>The lack of usable competitor data can make it diﬃcult to determine appropriate market pricing and optimize proﬁtability.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0" y="4906173"/>
            <a:ext cx="9144000" cy="233011"/>
          </a:xfrm>
          <a:custGeom>
            <a:rect b="b" l="l" r="r" t="t"/>
            <a:pathLst>
              <a:path extrusionOk="0" h="342900" w="10706100">
                <a:moveTo>
                  <a:pt x="10706099" y="342899"/>
                </a:moveTo>
                <a:lnTo>
                  <a:pt x="0" y="3428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342899"/>
                </a:lnTo>
                <a:close/>
              </a:path>
            </a:pathLst>
          </a:custGeom>
          <a:solidFill>
            <a:srgbClr val="F2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5" name="Google Shape;105;p20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DKomplex: Intelligent Pricing Forecast Model</a:t>
            </a:r>
            <a:endParaRPr/>
          </a:p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/>
          <p:nvPr/>
        </p:nvSpPr>
        <p:spPr>
          <a:xfrm>
            <a:off x="0" y="0"/>
            <a:ext cx="9144000" cy="440132"/>
          </a:xfrm>
          <a:custGeom>
            <a:rect b="b" l="l" r="r" t="t"/>
            <a:pathLst>
              <a:path extrusionOk="0" h="647700" w="10706100">
                <a:moveTo>
                  <a:pt x="10706099" y="647699"/>
                </a:moveTo>
                <a:lnTo>
                  <a:pt x="0" y="6476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647699"/>
                </a:lnTo>
                <a:close/>
              </a:path>
            </a:pathLst>
          </a:custGeom>
          <a:solidFill>
            <a:srgbClr val="432DD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</a:t>
            </a:r>
            <a:endParaRPr/>
          </a:p>
        </p:txBody>
      </p:sp>
      <p:sp>
        <p:nvSpPr>
          <p:cNvPr id="113" name="Google Shape;113;p21"/>
          <p:cNvSpPr/>
          <p:nvPr/>
        </p:nvSpPr>
        <p:spPr>
          <a:xfrm>
            <a:off x="927416" y="3540471"/>
            <a:ext cx="7289167" cy="750813"/>
          </a:xfrm>
          <a:custGeom>
            <a:rect b="b" l="l" r="r" t="t"/>
            <a:pathLst>
              <a:path extrusionOk="0" h="1104900" w="8534400">
                <a:moveTo>
                  <a:pt x="8463203" y="1104899"/>
                </a:moveTo>
                <a:lnTo>
                  <a:pt x="71196" y="1104899"/>
                </a:lnTo>
                <a:lnTo>
                  <a:pt x="66241" y="1104411"/>
                </a:lnTo>
                <a:lnTo>
                  <a:pt x="29705" y="1089277"/>
                </a:lnTo>
                <a:lnTo>
                  <a:pt x="3885" y="1053236"/>
                </a:lnTo>
                <a:lnTo>
                  <a:pt x="0" y="1033703"/>
                </a:lnTo>
                <a:lnTo>
                  <a:pt x="0" y="10286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8463203" y="0"/>
                </a:lnTo>
                <a:lnTo>
                  <a:pt x="8504693" y="15621"/>
                </a:lnTo>
                <a:lnTo>
                  <a:pt x="8530511" y="51661"/>
                </a:lnTo>
                <a:lnTo>
                  <a:pt x="8534398" y="71196"/>
                </a:lnTo>
                <a:lnTo>
                  <a:pt x="8534398" y="1033703"/>
                </a:lnTo>
                <a:lnTo>
                  <a:pt x="8518777" y="1075193"/>
                </a:lnTo>
                <a:lnTo>
                  <a:pt x="8482736" y="1101013"/>
                </a:lnTo>
                <a:lnTo>
                  <a:pt x="8468158" y="1104411"/>
                </a:lnTo>
                <a:lnTo>
                  <a:pt x="8463203" y="1104899"/>
                </a:lnTo>
                <a:close/>
              </a:path>
            </a:pathLst>
          </a:custGeom>
          <a:solidFill>
            <a:srgbClr val="F2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4" name="Google Shape;114;p21"/>
          <p:cNvSpPr/>
          <p:nvPr/>
        </p:nvSpPr>
        <p:spPr>
          <a:xfrm>
            <a:off x="927425" y="1055025"/>
            <a:ext cx="3518154" cy="1105186"/>
          </a:xfrm>
          <a:custGeom>
            <a:rect b="b" l="l" r="r" t="t"/>
            <a:pathLst>
              <a:path extrusionOk="0" h="1562100" w="4114800">
                <a:moveTo>
                  <a:pt x="4043602" y="1562099"/>
                </a:moveTo>
                <a:lnTo>
                  <a:pt x="71196" y="1562099"/>
                </a:lnTo>
                <a:lnTo>
                  <a:pt x="66241" y="1561611"/>
                </a:lnTo>
                <a:lnTo>
                  <a:pt x="29705" y="1546477"/>
                </a:lnTo>
                <a:lnTo>
                  <a:pt x="3885" y="1510437"/>
                </a:lnTo>
                <a:lnTo>
                  <a:pt x="0" y="1490902"/>
                </a:lnTo>
                <a:lnTo>
                  <a:pt x="0" y="14858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043602" y="0"/>
                </a:lnTo>
                <a:lnTo>
                  <a:pt x="4085094" y="15621"/>
                </a:lnTo>
                <a:lnTo>
                  <a:pt x="4110913" y="51661"/>
                </a:lnTo>
                <a:lnTo>
                  <a:pt x="4114799" y="71196"/>
                </a:lnTo>
                <a:lnTo>
                  <a:pt x="4114799" y="1490902"/>
                </a:lnTo>
                <a:lnTo>
                  <a:pt x="4099177" y="1532393"/>
                </a:lnTo>
                <a:lnTo>
                  <a:pt x="4063137" y="1558213"/>
                </a:lnTo>
                <a:lnTo>
                  <a:pt x="4048557" y="1561611"/>
                </a:lnTo>
                <a:lnTo>
                  <a:pt x="4043602" y="1562099"/>
                </a:lnTo>
                <a:close/>
              </a:path>
            </a:pathLst>
          </a:custGeom>
          <a:solidFill>
            <a:srgbClr val="DFE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5" name="Google Shape;115;p21"/>
          <p:cNvSpPr/>
          <p:nvPr/>
        </p:nvSpPr>
        <p:spPr>
          <a:xfrm>
            <a:off x="927425" y="2271850"/>
            <a:ext cx="3518154" cy="1152049"/>
          </a:xfrm>
          <a:custGeom>
            <a:rect b="b" l="l" r="r" t="t"/>
            <a:pathLst>
              <a:path extrusionOk="0" h="1562100" w="4114800">
                <a:moveTo>
                  <a:pt x="4043602" y="1562099"/>
                </a:moveTo>
                <a:lnTo>
                  <a:pt x="71196" y="1562099"/>
                </a:lnTo>
                <a:lnTo>
                  <a:pt x="66241" y="1561611"/>
                </a:lnTo>
                <a:lnTo>
                  <a:pt x="29705" y="1546477"/>
                </a:lnTo>
                <a:lnTo>
                  <a:pt x="3885" y="1510437"/>
                </a:lnTo>
                <a:lnTo>
                  <a:pt x="0" y="1490903"/>
                </a:lnTo>
                <a:lnTo>
                  <a:pt x="0" y="14858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043602" y="0"/>
                </a:lnTo>
                <a:lnTo>
                  <a:pt x="4085094" y="15621"/>
                </a:lnTo>
                <a:lnTo>
                  <a:pt x="4110913" y="51661"/>
                </a:lnTo>
                <a:lnTo>
                  <a:pt x="4114799" y="71196"/>
                </a:lnTo>
                <a:lnTo>
                  <a:pt x="4114799" y="1490903"/>
                </a:lnTo>
                <a:lnTo>
                  <a:pt x="4099177" y="1532393"/>
                </a:lnTo>
                <a:lnTo>
                  <a:pt x="4063137" y="1558213"/>
                </a:lnTo>
                <a:lnTo>
                  <a:pt x="4048557" y="1561611"/>
                </a:lnTo>
                <a:lnTo>
                  <a:pt x="4043602" y="1562099"/>
                </a:lnTo>
                <a:close/>
              </a:path>
            </a:pathLst>
          </a:custGeom>
          <a:solidFill>
            <a:srgbClr val="DFE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6" name="Google Shape;116;p21"/>
          <p:cNvSpPr txBox="1"/>
          <p:nvPr/>
        </p:nvSpPr>
        <p:spPr>
          <a:xfrm>
            <a:off x="1046732" y="1156424"/>
            <a:ext cx="3225348" cy="847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629AB"/>
                </a:solidFill>
                <a:latin typeface="Tahoma"/>
                <a:ea typeface="Tahoma"/>
                <a:cs typeface="Tahoma"/>
                <a:sym typeface="Tahoma"/>
              </a:rPr>
              <a:t>Data Cleaning &amp; Preparation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Clean historical data by enforcing consistent naming conventions and handling missing values. Convert records into consistent schemas for quotes, opportunities, and orders.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" name="Google Shape;117;p21"/>
          <p:cNvSpPr txBox="1"/>
          <p:nvPr/>
        </p:nvSpPr>
        <p:spPr>
          <a:xfrm>
            <a:off x="1046732" y="2373259"/>
            <a:ext cx="3031730" cy="847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629AB"/>
                </a:solidFill>
                <a:latin typeface="Tahoma"/>
                <a:ea typeface="Tahoma"/>
                <a:cs typeface="Tahoma"/>
                <a:sym typeface="Tahoma"/>
              </a:rPr>
              <a:t>Feature Engineering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Integrate timing features like economic factors. Generate synthetic competitor data through data augmentation to enhance the model's predictive capabilities.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8" name="Google Shape;118;p21"/>
          <p:cNvSpPr/>
          <p:nvPr/>
        </p:nvSpPr>
        <p:spPr>
          <a:xfrm>
            <a:off x="4702150" y="1055025"/>
            <a:ext cx="3518154" cy="946785"/>
          </a:xfrm>
          <a:custGeom>
            <a:rect b="b" l="l" r="r" t="t"/>
            <a:pathLst>
              <a:path extrusionOk="0" h="1333500" w="4114800">
                <a:moveTo>
                  <a:pt x="4043604" y="1333499"/>
                </a:moveTo>
                <a:lnTo>
                  <a:pt x="71196" y="1333499"/>
                </a:lnTo>
                <a:lnTo>
                  <a:pt x="66241" y="1333011"/>
                </a:lnTo>
                <a:lnTo>
                  <a:pt x="29705" y="1317877"/>
                </a:lnTo>
                <a:lnTo>
                  <a:pt x="3885" y="1281837"/>
                </a:lnTo>
                <a:lnTo>
                  <a:pt x="0" y="1262303"/>
                </a:lnTo>
                <a:lnTo>
                  <a:pt x="0" y="12572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043604" y="0"/>
                </a:lnTo>
                <a:lnTo>
                  <a:pt x="4085093" y="15621"/>
                </a:lnTo>
                <a:lnTo>
                  <a:pt x="4110912" y="51661"/>
                </a:lnTo>
                <a:lnTo>
                  <a:pt x="4114799" y="71196"/>
                </a:lnTo>
                <a:lnTo>
                  <a:pt x="4114799" y="1262303"/>
                </a:lnTo>
                <a:lnTo>
                  <a:pt x="4099177" y="1303793"/>
                </a:lnTo>
                <a:lnTo>
                  <a:pt x="4063137" y="1329613"/>
                </a:lnTo>
                <a:lnTo>
                  <a:pt x="4048558" y="1333011"/>
                </a:lnTo>
                <a:lnTo>
                  <a:pt x="4043604" y="1333499"/>
                </a:lnTo>
                <a:close/>
              </a:path>
            </a:pathLst>
          </a:custGeom>
          <a:solidFill>
            <a:srgbClr val="DFE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9" name="Google Shape;119;p21"/>
          <p:cNvSpPr/>
          <p:nvPr/>
        </p:nvSpPr>
        <p:spPr>
          <a:xfrm>
            <a:off x="4702150" y="2116526"/>
            <a:ext cx="3518154" cy="1060133"/>
          </a:xfrm>
          <a:custGeom>
            <a:rect b="b" l="l" r="r" t="t"/>
            <a:pathLst>
              <a:path extrusionOk="0" h="1333500" w="4114800">
                <a:moveTo>
                  <a:pt x="4043604" y="1333499"/>
                </a:moveTo>
                <a:lnTo>
                  <a:pt x="71196" y="1333499"/>
                </a:lnTo>
                <a:lnTo>
                  <a:pt x="66241" y="1333011"/>
                </a:lnTo>
                <a:lnTo>
                  <a:pt x="29705" y="1317877"/>
                </a:lnTo>
                <a:lnTo>
                  <a:pt x="3885" y="1281837"/>
                </a:lnTo>
                <a:lnTo>
                  <a:pt x="0" y="1262303"/>
                </a:lnTo>
                <a:lnTo>
                  <a:pt x="0" y="12572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043604" y="0"/>
                </a:lnTo>
                <a:lnTo>
                  <a:pt x="4085093" y="15621"/>
                </a:lnTo>
                <a:lnTo>
                  <a:pt x="4110912" y="51661"/>
                </a:lnTo>
                <a:lnTo>
                  <a:pt x="4114799" y="71196"/>
                </a:lnTo>
                <a:lnTo>
                  <a:pt x="4114799" y="1262303"/>
                </a:lnTo>
                <a:lnTo>
                  <a:pt x="4099177" y="1303794"/>
                </a:lnTo>
                <a:lnTo>
                  <a:pt x="4063137" y="1329613"/>
                </a:lnTo>
                <a:lnTo>
                  <a:pt x="4048558" y="1333011"/>
                </a:lnTo>
                <a:lnTo>
                  <a:pt x="4043604" y="1333499"/>
                </a:lnTo>
                <a:close/>
              </a:path>
            </a:pathLst>
          </a:custGeom>
          <a:solidFill>
            <a:srgbClr val="DFE7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0" name="Google Shape;120;p21"/>
          <p:cNvSpPr txBox="1"/>
          <p:nvPr/>
        </p:nvSpPr>
        <p:spPr>
          <a:xfrm>
            <a:off x="4821480" y="1156424"/>
            <a:ext cx="3186299" cy="691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629AB"/>
                </a:solidFill>
                <a:latin typeface="Tahoma"/>
                <a:ea typeface="Tahoma"/>
                <a:cs typeface="Tahoma"/>
                <a:sym typeface="Tahoma"/>
              </a:rPr>
              <a:t>Model Development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Build regression models (SVR, tree-based) to predict optimal Price Per Unit (PPU). Evaluate using statistical metrics like R² score and cross-validation.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4821480" y="2217919"/>
            <a:ext cx="3228601" cy="691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629AB"/>
                </a:solidFill>
                <a:latin typeface="Tahoma"/>
                <a:ea typeface="Tahoma"/>
                <a:cs typeface="Tahoma"/>
                <a:sym typeface="Tahoma"/>
              </a:rPr>
              <a:t>Visualization &amp; Documentation</a:t>
            </a:r>
            <a:endParaRPr sz="12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Use Matplotlib and Seaborn to interpret model performance. Create comprehensive documentation for both technical and non-technical audiences.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1046732" y="3641874"/>
            <a:ext cx="6736513" cy="536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Agile Methodology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Weekly meetings, milestone reviews, and regular client feedback to ensure project stays aligned with business needs and adapts to changing requirements.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" name="Google Shape;123;p21"/>
          <p:cNvSpPr/>
          <p:nvPr/>
        </p:nvSpPr>
        <p:spPr>
          <a:xfrm>
            <a:off x="0" y="4906173"/>
            <a:ext cx="9144000" cy="233011"/>
          </a:xfrm>
          <a:custGeom>
            <a:rect b="b" l="l" r="r" t="t"/>
            <a:pathLst>
              <a:path extrusionOk="0" h="342900" w="10706100">
                <a:moveTo>
                  <a:pt x="10706099" y="342899"/>
                </a:moveTo>
                <a:lnTo>
                  <a:pt x="0" y="3428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342899"/>
                </a:lnTo>
                <a:close/>
              </a:path>
            </a:pathLst>
          </a:custGeom>
          <a:solidFill>
            <a:srgbClr val="F2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4" name="Google Shape;124;p21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DKomplex: Intelligent Pricing Forecast Model</a:t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Dependencies &amp; Risks</a:t>
            </a:r>
            <a:endParaRPr/>
          </a:p>
        </p:txBody>
      </p:sp>
      <p:grpSp>
        <p:nvGrpSpPr>
          <p:cNvPr id="131" name="Google Shape;131;p22"/>
          <p:cNvGrpSpPr/>
          <p:nvPr/>
        </p:nvGrpSpPr>
        <p:grpSpPr>
          <a:xfrm>
            <a:off x="927425" y="1275023"/>
            <a:ext cx="3514451" cy="1373292"/>
            <a:chOff x="1085849" y="1876424"/>
            <a:chExt cx="4114800" cy="1638578"/>
          </a:xfrm>
        </p:grpSpPr>
        <p:sp>
          <p:nvSpPr>
            <p:cNvPr id="132" name="Google Shape;132;p22"/>
            <p:cNvSpPr/>
            <p:nvPr/>
          </p:nvSpPr>
          <p:spPr>
            <a:xfrm>
              <a:off x="1104899" y="1876424"/>
              <a:ext cx="4095750" cy="1638300"/>
            </a:xfrm>
            <a:custGeom>
              <a:rect b="b" l="l" r="r" t="t"/>
              <a:pathLst>
                <a:path extrusionOk="0" h="1638300" w="4095750">
                  <a:moveTo>
                    <a:pt x="4024552" y="1638299"/>
                  </a:moveTo>
                  <a:lnTo>
                    <a:pt x="53397" y="1638299"/>
                  </a:lnTo>
                  <a:lnTo>
                    <a:pt x="49681" y="1637811"/>
                  </a:lnTo>
                  <a:lnTo>
                    <a:pt x="14085" y="1612443"/>
                  </a:lnTo>
                  <a:lnTo>
                    <a:pt x="366" y="1572058"/>
                  </a:lnTo>
                  <a:lnTo>
                    <a:pt x="0" y="1567103"/>
                  </a:lnTo>
                  <a:lnTo>
                    <a:pt x="0" y="15620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4024552" y="0"/>
                  </a:lnTo>
                  <a:lnTo>
                    <a:pt x="4066044" y="15621"/>
                  </a:lnTo>
                  <a:lnTo>
                    <a:pt x="4091863" y="51661"/>
                  </a:lnTo>
                  <a:lnTo>
                    <a:pt x="4095749" y="71196"/>
                  </a:lnTo>
                  <a:lnTo>
                    <a:pt x="4095749" y="1567103"/>
                  </a:lnTo>
                  <a:lnTo>
                    <a:pt x="4080127" y="1608593"/>
                  </a:lnTo>
                  <a:lnTo>
                    <a:pt x="4044087" y="1634413"/>
                  </a:lnTo>
                  <a:lnTo>
                    <a:pt x="4029507" y="1637811"/>
                  </a:lnTo>
                  <a:lnTo>
                    <a:pt x="4024552" y="1638299"/>
                  </a:lnTo>
                  <a:close/>
                </a:path>
              </a:pathLst>
            </a:custGeom>
            <a:solidFill>
              <a:srgbClr val="EEF5F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33" name="Google Shape;133;p22"/>
            <p:cNvSpPr/>
            <p:nvPr/>
          </p:nvSpPr>
          <p:spPr>
            <a:xfrm>
              <a:off x="1085849" y="1876702"/>
              <a:ext cx="70485" cy="1638300"/>
            </a:xfrm>
            <a:custGeom>
              <a:rect b="b" l="l" r="r" t="t"/>
              <a:pathLst>
                <a:path extrusionOk="0" h="1638300" w="70484">
                  <a:moveTo>
                    <a:pt x="70450" y="1637744"/>
                  </a:moveTo>
                  <a:lnTo>
                    <a:pt x="33857" y="1625191"/>
                  </a:lnTo>
                  <a:lnTo>
                    <a:pt x="5800" y="1590982"/>
                  </a:lnTo>
                  <a:lnTo>
                    <a:pt x="0" y="15618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561822"/>
                  </a:lnTo>
                  <a:lnTo>
                    <a:pt x="44514" y="1604164"/>
                  </a:lnTo>
                  <a:lnTo>
                    <a:pt x="66287" y="1636088"/>
                  </a:lnTo>
                  <a:lnTo>
                    <a:pt x="70450" y="1637744"/>
                  </a:lnTo>
                  <a:close/>
                </a:path>
              </a:pathLst>
            </a:custGeom>
            <a:solidFill>
              <a:srgbClr val="2B7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grpSp>
        <p:nvGrpSpPr>
          <p:cNvPr id="134" name="Google Shape;134;p22"/>
          <p:cNvGrpSpPr/>
          <p:nvPr/>
        </p:nvGrpSpPr>
        <p:grpSpPr>
          <a:xfrm>
            <a:off x="927425" y="2746173"/>
            <a:ext cx="3514451" cy="1035768"/>
            <a:chOff x="1085849" y="3667124"/>
            <a:chExt cx="4114800" cy="1371878"/>
          </a:xfrm>
        </p:grpSpPr>
        <p:sp>
          <p:nvSpPr>
            <p:cNvPr id="135" name="Google Shape;135;p22"/>
            <p:cNvSpPr/>
            <p:nvPr/>
          </p:nvSpPr>
          <p:spPr>
            <a:xfrm>
              <a:off x="1104899" y="3667124"/>
              <a:ext cx="4095750" cy="1371600"/>
            </a:xfrm>
            <a:custGeom>
              <a:rect b="b" l="l" r="r" t="t"/>
              <a:pathLst>
                <a:path extrusionOk="0" h="1371600" w="4095750">
                  <a:moveTo>
                    <a:pt x="4024552" y="1371599"/>
                  </a:moveTo>
                  <a:lnTo>
                    <a:pt x="53397" y="1371599"/>
                  </a:lnTo>
                  <a:lnTo>
                    <a:pt x="49681" y="1371111"/>
                  </a:lnTo>
                  <a:lnTo>
                    <a:pt x="14085" y="1345743"/>
                  </a:lnTo>
                  <a:lnTo>
                    <a:pt x="366" y="1305358"/>
                  </a:lnTo>
                  <a:lnTo>
                    <a:pt x="0" y="1300403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4024552" y="0"/>
                  </a:lnTo>
                  <a:lnTo>
                    <a:pt x="4066044" y="15621"/>
                  </a:lnTo>
                  <a:lnTo>
                    <a:pt x="4091863" y="51661"/>
                  </a:lnTo>
                  <a:lnTo>
                    <a:pt x="4095749" y="71196"/>
                  </a:lnTo>
                  <a:lnTo>
                    <a:pt x="4095749" y="1300403"/>
                  </a:lnTo>
                  <a:lnTo>
                    <a:pt x="4080127" y="1341894"/>
                  </a:lnTo>
                  <a:lnTo>
                    <a:pt x="4044087" y="1367713"/>
                  </a:lnTo>
                  <a:lnTo>
                    <a:pt x="4029507" y="1371111"/>
                  </a:lnTo>
                  <a:lnTo>
                    <a:pt x="4024552" y="1371599"/>
                  </a:lnTo>
                  <a:close/>
                </a:path>
              </a:pathLst>
            </a:custGeom>
            <a:solidFill>
              <a:srgbClr val="F0FD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36" name="Google Shape;136;p22"/>
            <p:cNvSpPr/>
            <p:nvPr/>
          </p:nvSpPr>
          <p:spPr>
            <a:xfrm>
              <a:off x="1085849" y="3667402"/>
              <a:ext cx="70485" cy="1371600"/>
            </a:xfrm>
            <a:custGeom>
              <a:rect b="b" l="l" r="r" t="t"/>
              <a:pathLst>
                <a:path extrusionOk="0" h="1371600" w="70484">
                  <a:moveTo>
                    <a:pt x="70449" y="1371044"/>
                  </a:moveTo>
                  <a:lnTo>
                    <a:pt x="33857" y="1358491"/>
                  </a:lnTo>
                  <a:lnTo>
                    <a:pt x="5800" y="1324282"/>
                  </a:lnTo>
                  <a:lnTo>
                    <a:pt x="0" y="1295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295122"/>
                  </a:lnTo>
                  <a:lnTo>
                    <a:pt x="44514" y="1337464"/>
                  </a:lnTo>
                  <a:lnTo>
                    <a:pt x="66287" y="1369388"/>
                  </a:lnTo>
                  <a:lnTo>
                    <a:pt x="70449" y="1371044"/>
                  </a:lnTo>
                  <a:close/>
                </a:path>
              </a:pathLst>
            </a:custGeom>
            <a:solidFill>
              <a:srgbClr val="00C85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37" name="Google Shape;137;p22"/>
          <p:cNvSpPr txBox="1"/>
          <p:nvPr/>
        </p:nvSpPr>
        <p:spPr>
          <a:xfrm>
            <a:off x="916569" y="962249"/>
            <a:ext cx="1388413" cy="20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629AB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Dependencies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1079275" y="1321000"/>
            <a:ext cx="33627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3BB8"/>
                </a:solidFill>
                <a:latin typeface="Trebuchet MS"/>
                <a:ea typeface="Trebuchet MS"/>
                <a:cs typeface="Trebuchet MS"/>
                <a:sym typeface="Trebuchet MS"/>
              </a:rPr>
              <a:t>Technical Dependencies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Secure access to DKomplex data systems</a:t>
            </a:r>
            <a:endParaRPr sz="10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Python environment (pandas, NumPy, PySpark) </a:t>
            </a:r>
            <a:endParaRPr sz="10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Fabric AutoML</a:t>
            </a:r>
            <a:endParaRPr sz="10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1079275" y="2792125"/>
            <a:ext cx="32340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16630"/>
                </a:solidFill>
                <a:latin typeface="Trebuchet MS"/>
                <a:ea typeface="Trebuchet MS"/>
                <a:cs typeface="Trebuchet MS"/>
                <a:sym typeface="Trebuchet MS"/>
              </a:rPr>
              <a:t>Process Dependencies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Data cleaning before model development </a:t>
            </a:r>
            <a:endParaRPr sz="10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Successful completion of foundational tasks </a:t>
            </a:r>
            <a:endParaRPr sz="10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Client feedback at milestone reviews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40" name="Google Shape;140;p22"/>
          <p:cNvGrpSpPr/>
          <p:nvPr/>
        </p:nvGrpSpPr>
        <p:grpSpPr>
          <a:xfrm>
            <a:off x="4702163" y="1275087"/>
            <a:ext cx="3514420" cy="932233"/>
            <a:chOff x="5505449" y="1876424"/>
            <a:chExt cx="4114800" cy="1371878"/>
          </a:xfrm>
        </p:grpSpPr>
        <p:sp>
          <p:nvSpPr>
            <p:cNvPr id="141" name="Google Shape;141;p22"/>
            <p:cNvSpPr/>
            <p:nvPr/>
          </p:nvSpPr>
          <p:spPr>
            <a:xfrm>
              <a:off x="5524499" y="1876424"/>
              <a:ext cx="4095750" cy="1371600"/>
            </a:xfrm>
            <a:custGeom>
              <a:rect b="b" l="l" r="r" t="t"/>
              <a:pathLst>
                <a:path extrusionOk="0" h="1371600" w="4095750">
                  <a:moveTo>
                    <a:pt x="4024553" y="1371599"/>
                  </a:moveTo>
                  <a:lnTo>
                    <a:pt x="53397" y="1371599"/>
                  </a:lnTo>
                  <a:lnTo>
                    <a:pt x="49680" y="1371111"/>
                  </a:lnTo>
                  <a:lnTo>
                    <a:pt x="14085" y="1345743"/>
                  </a:lnTo>
                  <a:lnTo>
                    <a:pt x="365" y="1305358"/>
                  </a:lnTo>
                  <a:lnTo>
                    <a:pt x="0" y="1300403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40"/>
                  </a:lnTo>
                  <a:lnTo>
                    <a:pt x="53397" y="0"/>
                  </a:lnTo>
                  <a:lnTo>
                    <a:pt x="4024553" y="0"/>
                  </a:lnTo>
                  <a:lnTo>
                    <a:pt x="4066043" y="15621"/>
                  </a:lnTo>
                  <a:lnTo>
                    <a:pt x="4091862" y="51661"/>
                  </a:lnTo>
                  <a:lnTo>
                    <a:pt x="4095749" y="71196"/>
                  </a:lnTo>
                  <a:lnTo>
                    <a:pt x="4095749" y="1300403"/>
                  </a:lnTo>
                  <a:lnTo>
                    <a:pt x="4080127" y="1341894"/>
                  </a:lnTo>
                  <a:lnTo>
                    <a:pt x="4044087" y="1367713"/>
                  </a:lnTo>
                  <a:lnTo>
                    <a:pt x="4029508" y="1371111"/>
                  </a:lnTo>
                  <a:lnTo>
                    <a:pt x="4024553" y="1371599"/>
                  </a:lnTo>
                  <a:close/>
                </a:path>
              </a:pathLst>
            </a:custGeom>
            <a:solidFill>
              <a:srgbClr val="FEF2F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42" name="Google Shape;142;p22"/>
            <p:cNvSpPr/>
            <p:nvPr/>
          </p:nvSpPr>
          <p:spPr>
            <a:xfrm>
              <a:off x="5505449" y="1876702"/>
              <a:ext cx="70485" cy="1371600"/>
            </a:xfrm>
            <a:custGeom>
              <a:rect b="b" l="l" r="r" t="t"/>
              <a:pathLst>
                <a:path extrusionOk="0" h="1371600" w="70485">
                  <a:moveTo>
                    <a:pt x="70449" y="1371044"/>
                  </a:moveTo>
                  <a:lnTo>
                    <a:pt x="33857" y="1358491"/>
                  </a:lnTo>
                  <a:lnTo>
                    <a:pt x="5799" y="1324282"/>
                  </a:lnTo>
                  <a:lnTo>
                    <a:pt x="0" y="12951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295122"/>
                  </a:lnTo>
                  <a:lnTo>
                    <a:pt x="44514" y="1337464"/>
                  </a:lnTo>
                  <a:lnTo>
                    <a:pt x="66287" y="1369388"/>
                  </a:lnTo>
                  <a:lnTo>
                    <a:pt x="70449" y="1371044"/>
                  </a:lnTo>
                  <a:close/>
                </a:path>
              </a:pathLst>
            </a:custGeom>
            <a:solidFill>
              <a:srgbClr val="FA2B3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grpSp>
        <p:nvGrpSpPr>
          <p:cNvPr id="143" name="Google Shape;143;p22"/>
          <p:cNvGrpSpPr/>
          <p:nvPr/>
        </p:nvGrpSpPr>
        <p:grpSpPr>
          <a:xfrm>
            <a:off x="4702163" y="2310691"/>
            <a:ext cx="3514420" cy="932233"/>
            <a:chOff x="5505449" y="3400424"/>
            <a:chExt cx="4114800" cy="1371878"/>
          </a:xfrm>
        </p:grpSpPr>
        <p:sp>
          <p:nvSpPr>
            <p:cNvPr id="144" name="Google Shape;144;p22"/>
            <p:cNvSpPr/>
            <p:nvPr/>
          </p:nvSpPr>
          <p:spPr>
            <a:xfrm>
              <a:off x="5524499" y="3400424"/>
              <a:ext cx="4095750" cy="1371600"/>
            </a:xfrm>
            <a:custGeom>
              <a:rect b="b" l="l" r="r" t="t"/>
              <a:pathLst>
                <a:path extrusionOk="0" h="1371600" w="4095750">
                  <a:moveTo>
                    <a:pt x="4024553" y="1371599"/>
                  </a:moveTo>
                  <a:lnTo>
                    <a:pt x="53397" y="1371599"/>
                  </a:lnTo>
                  <a:lnTo>
                    <a:pt x="49680" y="1371111"/>
                  </a:lnTo>
                  <a:lnTo>
                    <a:pt x="14085" y="1345743"/>
                  </a:lnTo>
                  <a:lnTo>
                    <a:pt x="365" y="1305358"/>
                  </a:lnTo>
                  <a:lnTo>
                    <a:pt x="0" y="1300403"/>
                  </a:lnTo>
                  <a:lnTo>
                    <a:pt x="0" y="12953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19" y="2439"/>
                  </a:lnTo>
                  <a:lnTo>
                    <a:pt x="53397" y="0"/>
                  </a:lnTo>
                  <a:lnTo>
                    <a:pt x="4024553" y="0"/>
                  </a:lnTo>
                  <a:lnTo>
                    <a:pt x="4066043" y="15621"/>
                  </a:lnTo>
                  <a:lnTo>
                    <a:pt x="4091862" y="51661"/>
                  </a:lnTo>
                  <a:lnTo>
                    <a:pt x="4095749" y="71196"/>
                  </a:lnTo>
                  <a:lnTo>
                    <a:pt x="4095749" y="1300403"/>
                  </a:lnTo>
                  <a:lnTo>
                    <a:pt x="4080127" y="1341894"/>
                  </a:lnTo>
                  <a:lnTo>
                    <a:pt x="4044087" y="1367713"/>
                  </a:lnTo>
                  <a:lnTo>
                    <a:pt x="4029508" y="1371111"/>
                  </a:lnTo>
                  <a:lnTo>
                    <a:pt x="4024553" y="1371599"/>
                  </a:lnTo>
                  <a:close/>
                </a:path>
              </a:pathLst>
            </a:custGeom>
            <a:solidFill>
              <a:srgbClr val="FDFBE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45" name="Google Shape;145;p22"/>
            <p:cNvSpPr/>
            <p:nvPr/>
          </p:nvSpPr>
          <p:spPr>
            <a:xfrm>
              <a:off x="5505449" y="3400702"/>
              <a:ext cx="70485" cy="1371600"/>
            </a:xfrm>
            <a:custGeom>
              <a:rect b="b" l="l" r="r" t="t"/>
              <a:pathLst>
                <a:path extrusionOk="0" h="1371600" w="70485">
                  <a:moveTo>
                    <a:pt x="70450" y="1371044"/>
                  </a:moveTo>
                  <a:lnTo>
                    <a:pt x="33857" y="1358491"/>
                  </a:lnTo>
                  <a:lnTo>
                    <a:pt x="5799" y="1324282"/>
                  </a:lnTo>
                  <a:lnTo>
                    <a:pt x="0" y="12951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295122"/>
                  </a:lnTo>
                  <a:lnTo>
                    <a:pt x="44514" y="1337464"/>
                  </a:lnTo>
                  <a:lnTo>
                    <a:pt x="66287" y="1369388"/>
                  </a:lnTo>
                  <a:lnTo>
                    <a:pt x="70450" y="1371044"/>
                  </a:lnTo>
                  <a:close/>
                </a:path>
              </a:pathLst>
            </a:custGeom>
            <a:solidFill>
              <a:srgbClr val="F0B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grpSp>
        <p:nvGrpSpPr>
          <p:cNvPr id="146" name="Google Shape;146;p22"/>
          <p:cNvGrpSpPr/>
          <p:nvPr/>
        </p:nvGrpSpPr>
        <p:grpSpPr>
          <a:xfrm>
            <a:off x="4702201" y="3346139"/>
            <a:ext cx="3514451" cy="1142446"/>
            <a:chOff x="5505449" y="4924424"/>
            <a:chExt cx="4114800" cy="1524278"/>
          </a:xfrm>
        </p:grpSpPr>
        <p:sp>
          <p:nvSpPr>
            <p:cNvPr id="147" name="Google Shape;147;p22"/>
            <p:cNvSpPr/>
            <p:nvPr/>
          </p:nvSpPr>
          <p:spPr>
            <a:xfrm>
              <a:off x="5524499" y="4924424"/>
              <a:ext cx="4095750" cy="1524000"/>
            </a:xfrm>
            <a:custGeom>
              <a:rect b="b" l="l" r="r" t="t"/>
              <a:pathLst>
                <a:path extrusionOk="0" h="1524000" w="4095750">
                  <a:moveTo>
                    <a:pt x="4024553" y="1523999"/>
                  </a:moveTo>
                  <a:lnTo>
                    <a:pt x="53397" y="1523999"/>
                  </a:lnTo>
                  <a:lnTo>
                    <a:pt x="49680" y="1523510"/>
                  </a:lnTo>
                  <a:lnTo>
                    <a:pt x="14085" y="1498142"/>
                  </a:lnTo>
                  <a:lnTo>
                    <a:pt x="365" y="1457757"/>
                  </a:lnTo>
                  <a:lnTo>
                    <a:pt x="0" y="1452803"/>
                  </a:lnTo>
                  <a:lnTo>
                    <a:pt x="0" y="14477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19" y="2439"/>
                  </a:lnTo>
                  <a:lnTo>
                    <a:pt x="53397" y="0"/>
                  </a:lnTo>
                  <a:lnTo>
                    <a:pt x="4024553" y="0"/>
                  </a:lnTo>
                  <a:lnTo>
                    <a:pt x="4066043" y="15621"/>
                  </a:lnTo>
                  <a:lnTo>
                    <a:pt x="4091862" y="51661"/>
                  </a:lnTo>
                  <a:lnTo>
                    <a:pt x="4095749" y="71196"/>
                  </a:lnTo>
                  <a:lnTo>
                    <a:pt x="4095749" y="1452803"/>
                  </a:lnTo>
                  <a:lnTo>
                    <a:pt x="4080127" y="1494293"/>
                  </a:lnTo>
                  <a:lnTo>
                    <a:pt x="4044087" y="1520113"/>
                  </a:lnTo>
                  <a:lnTo>
                    <a:pt x="4029508" y="1523510"/>
                  </a:lnTo>
                  <a:lnTo>
                    <a:pt x="4024553" y="1523999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48" name="Google Shape;148;p22"/>
            <p:cNvSpPr/>
            <p:nvPr/>
          </p:nvSpPr>
          <p:spPr>
            <a:xfrm>
              <a:off x="5505449" y="4924702"/>
              <a:ext cx="70485" cy="1524000"/>
            </a:xfrm>
            <a:custGeom>
              <a:rect b="b" l="l" r="r" t="t"/>
              <a:pathLst>
                <a:path extrusionOk="0" h="1524000" w="70485">
                  <a:moveTo>
                    <a:pt x="70450" y="1523444"/>
                  </a:moveTo>
                  <a:lnTo>
                    <a:pt x="33857" y="1510891"/>
                  </a:lnTo>
                  <a:lnTo>
                    <a:pt x="5799" y="1476682"/>
                  </a:lnTo>
                  <a:lnTo>
                    <a:pt x="0" y="14475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0999" y="46761"/>
                  </a:lnTo>
                  <a:lnTo>
                    <a:pt x="38100" y="75922"/>
                  </a:lnTo>
                  <a:lnTo>
                    <a:pt x="38100" y="1447522"/>
                  </a:lnTo>
                  <a:lnTo>
                    <a:pt x="44514" y="1489863"/>
                  </a:lnTo>
                  <a:lnTo>
                    <a:pt x="66287" y="1521788"/>
                  </a:lnTo>
                  <a:lnTo>
                    <a:pt x="70450" y="1523444"/>
                  </a:lnTo>
                  <a:close/>
                </a:path>
              </a:pathLst>
            </a:custGeom>
            <a:solidFill>
              <a:srgbClr val="69728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149" name="Google Shape;149;p22"/>
          <p:cNvSpPr txBox="1"/>
          <p:nvPr/>
        </p:nvSpPr>
        <p:spPr>
          <a:xfrm>
            <a:off x="4691316" y="962249"/>
            <a:ext cx="525536" cy="20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629AB"/>
                </a:solidFill>
                <a:latin typeface="Trebuchet MS"/>
                <a:ea typeface="Trebuchet MS"/>
                <a:cs typeface="Trebuchet MS"/>
                <a:sym typeface="Trebuchet MS"/>
              </a:rPr>
              <a:t>Risks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4854025" y="1321000"/>
            <a:ext cx="31179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9E0711"/>
                </a:solidFill>
                <a:latin typeface="Trebuchet MS"/>
                <a:ea typeface="Trebuchet MS"/>
                <a:cs typeface="Trebuchet MS"/>
                <a:sym typeface="Trebuchet MS"/>
              </a:rPr>
              <a:t>High Priority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Delays in receiving/accessing DKomplex data </a:t>
            </a:r>
            <a:endParaRPr sz="10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Data quality issues (missing, incorrect data) </a:t>
            </a:r>
            <a:endParaRPr sz="10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Privacy/security concerns with conﬁdential data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1" name="Google Shape;151;p22"/>
          <p:cNvSpPr txBox="1"/>
          <p:nvPr/>
        </p:nvSpPr>
        <p:spPr>
          <a:xfrm>
            <a:off x="4854025" y="2390050"/>
            <a:ext cx="3100800" cy="8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84A00"/>
                </a:solidFill>
                <a:latin typeface="Trebuchet MS"/>
                <a:ea typeface="Trebuchet MS"/>
                <a:cs typeface="Trebuchet MS"/>
                <a:sym typeface="Trebuchet MS"/>
              </a:rPr>
              <a:t>Medium Priority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92100" lvl="0" marL="457200" marR="31750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Limitations of synthetic competitor data </a:t>
            </a:r>
            <a:endParaRPr sz="10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marR="317500" rtl="0" algn="l">
              <a:lnSpc>
                <a:spcPct val="1458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Technical issues with environment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1000"/>
              <a:buFont typeface="Tahoma"/>
              <a:buChar char="●"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Changes in project requirements/scope creep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2" name="Google Shape;152;p22"/>
          <p:cNvSpPr txBox="1"/>
          <p:nvPr/>
        </p:nvSpPr>
        <p:spPr>
          <a:xfrm>
            <a:off x="4854020" y="3392196"/>
            <a:ext cx="2990100" cy="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Mitigation Strategies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Early communication with client, robust cleaning processes, NDAs for all team members, regular backups, and clear documentation of all assumptions.</a:t>
            </a:r>
            <a:endParaRPr sz="10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0" y="4906173"/>
            <a:ext cx="9144000" cy="233011"/>
          </a:xfrm>
          <a:custGeom>
            <a:rect b="b" l="l" r="r" t="t"/>
            <a:pathLst>
              <a:path extrusionOk="0" h="342900" w="10706100">
                <a:moveTo>
                  <a:pt x="10706099" y="342899"/>
                </a:moveTo>
                <a:lnTo>
                  <a:pt x="0" y="3428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342899"/>
                </a:lnTo>
                <a:close/>
              </a:path>
            </a:pathLst>
          </a:custGeom>
          <a:solidFill>
            <a:srgbClr val="F2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4" name="Google Shape;154;p22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DKomplex: Intelligent Pricing Forecast Model</a:t>
            </a:r>
            <a:endParaRPr/>
          </a:p>
        </p:txBody>
      </p:sp>
      <p:sp>
        <p:nvSpPr>
          <p:cNvPr id="155" name="Google Shape;155;p22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Deliverables</a:t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184399" y="541535"/>
            <a:ext cx="7358046" cy="661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629AB"/>
                </a:solidFill>
                <a:latin typeface="Trebuchet MS"/>
                <a:ea typeface="Trebuchet MS"/>
                <a:cs typeface="Trebuchet MS"/>
                <a:sym typeface="Trebuchet MS"/>
              </a:rPr>
              <a:t>Final Project Deliverables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Our deliverables provide DKomplex with immediate value and foundations for future expansion of their pricing strategy.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Core Deliverables	Documentation &amp; Handoﬀ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62" name="Google Shape;162;p23"/>
          <p:cNvSpPr/>
          <p:nvPr/>
        </p:nvSpPr>
        <p:spPr>
          <a:xfrm>
            <a:off x="195245" y="1242724"/>
            <a:ext cx="4311673" cy="12945"/>
          </a:xfrm>
          <a:custGeom>
            <a:rect b="b" l="l" r="r" t="t"/>
            <a:pathLst>
              <a:path extrusionOk="0" h="19050" w="5048250">
                <a:moveTo>
                  <a:pt x="5048249" y="19049"/>
                </a:moveTo>
                <a:lnTo>
                  <a:pt x="0" y="19049"/>
                </a:lnTo>
                <a:lnTo>
                  <a:pt x="0" y="0"/>
                </a:lnTo>
                <a:lnTo>
                  <a:pt x="5048249" y="0"/>
                </a:lnTo>
                <a:lnTo>
                  <a:pt x="5048249" y="19049"/>
                </a:lnTo>
                <a:close/>
              </a:path>
            </a:pathLst>
          </a:custGeom>
          <a:solidFill>
            <a:srgbClr val="A2B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3" name="Google Shape;163;p23"/>
          <p:cNvSpPr/>
          <p:nvPr/>
        </p:nvSpPr>
        <p:spPr>
          <a:xfrm>
            <a:off x="195245" y="1333340"/>
            <a:ext cx="4311673" cy="440132"/>
          </a:xfrm>
          <a:custGeom>
            <a:rect b="b" l="l" r="r" t="t"/>
            <a:pathLst>
              <a:path extrusionOk="0" h="647700" w="5048250">
                <a:moveTo>
                  <a:pt x="4977053" y="647699"/>
                </a:moveTo>
                <a:lnTo>
                  <a:pt x="71196" y="647699"/>
                </a:lnTo>
                <a:lnTo>
                  <a:pt x="66241" y="647211"/>
                </a:lnTo>
                <a:lnTo>
                  <a:pt x="29705" y="632077"/>
                </a:lnTo>
                <a:lnTo>
                  <a:pt x="3885" y="596037"/>
                </a:lnTo>
                <a:lnTo>
                  <a:pt x="0" y="576503"/>
                </a:lnTo>
                <a:lnTo>
                  <a:pt x="0" y="5714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977053" y="0"/>
                </a:lnTo>
                <a:lnTo>
                  <a:pt x="5018543" y="15621"/>
                </a:lnTo>
                <a:lnTo>
                  <a:pt x="5044363" y="51661"/>
                </a:lnTo>
                <a:lnTo>
                  <a:pt x="5048249" y="71196"/>
                </a:lnTo>
                <a:lnTo>
                  <a:pt x="5048249" y="576503"/>
                </a:lnTo>
                <a:lnTo>
                  <a:pt x="5032627" y="617994"/>
                </a:lnTo>
                <a:lnTo>
                  <a:pt x="4996587" y="643813"/>
                </a:lnTo>
                <a:lnTo>
                  <a:pt x="4982008" y="647211"/>
                </a:lnTo>
                <a:lnTo>
                  <a:pt x="4977053" y="647699"/>
                </a:lnTo>
                <a:close/>
              </a:path>
            </a:pathLst>
          </a:custGeom>
          <a:solidFill>
            <a:srgbClr val="EDF2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4" name="Google Shape;164;p23"/>
          <p:cNvSpPr/>
          <p:nvPr/>
        </p:nvSpPr>
        <p:spPr>
          <a:xfrm>
            <a:off x="195245" y="1851142"/>
            <a:ext cx="4311673" cy="569582"/>
          </a:xfrm>
          <a:custGeom>
            <a:rect b="b" l="l" r="r" t="t"/>
            <a:pathLst>
              <a:path extrusionOk="0" h="838200" w="5048250">
                <a:moveTo>
                  <a:pt x="4977053" y="838199"/>
                </a:moveTo>
                <a:lnTo>
                  <a:pt x="71196" y="838199"/>
                </a:lnTo>
                <a:lnTo>
                  <a:pt x="66241" y="837711"/>
                </a:lnTo>
                <a:lnTo>
                  <a:pt x="29705" y="822577"/>
                </a:lnTo>
                <a:lnTo>
                  <a:pt x="3885" y="786537"/>
                </a:lnTo>
                <a:lnTo>
                  <a:pt x="0" y="767003"/>
                </a:lnTo>
                <a:lnTo>
                  <a:pt x="0" y="7619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977053" y="0"/>
                </a:lnTo>
                <a:lnTo>
                  <a:pt x="5018543" y="15621"/>
                </a:lnTo>
                <a:lnTo>
                  <a:pt x="5044363" y="51661"/>
                </a:lnTo>
                <a:lnTo>
                  <a:pt x="5048249" y="71196"/>
                </a:lnTo>
                <a:lnTo>
                  <a:pt x="5048249" y="767003"/>
                </a:lnTo>
                <a:lnTo>
                  <a:pt x="5032627" y="808493"/>
                </a:lnTo>
                <a:lnTo>
                  <a:pt x="4996587" y="834313"/>
                </a:lnTo>
                <a:lnTo>
                  <a:pt x="4982008" y="837711"/>
                </a:lnTo>
                <a:lnTo>
                  <a:pt x="4977053" y="838199"/>
                </a:lnTo>
                <a:close/>
              </a:path>
            </a:pathLst>
          </a:custGeom>
          <a:solidFill>
            <a:srgbClr val="EDF2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5" name="Google Shape;165;p23"/>
          <p:cNvSpPr/>
          <p:nvPr/>
        </p:nvSpPr>
        <p:spPr>
          <a:xfrm>
            <a:off x="195246" y="2498283"/>
            <a:ext cx="4311710" cy="440112"/>
          </a:xfrm>
          <a:custGeom>
            <a:rect b="b" l="l" r="r" t="t"/>
            <a:pathLst>
              <a:path extrusionOk="0" h="647700" w="5048250">
                <a:moveTo>
                  <a:pt x="4977053" y="647699"/>
                </a:moveTo>
                <a:lnTo>
                  <a:pt x="71196" y="647699"/>
                </a:lnTo>
                <a:lnTo>
                  <a:pt x="66241" y="647211"/>
                </a:lnTo>
                <a:lnTo>
                  <a:pt x="29705" y="632077"/>
                </a:lnTo>
                <a:lnTo>
                  <a:pt x="3885" y="596037"/>
                </a:lnTo>
                <a:lnTo>
                  <a:pt x="0" y="576503"/>
                </a:lnTo>
                <a:lnTo>
                  <a:pt x="0" y="5714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977053" y="0"/>
                </a:lnTo>
                <a:lnTo>
                  <a:pt x="5018543" y="15621"/>
                </a:lnTo>
                <a:lnTo>
                  <a:pt x="5044363" y="51661"/>
                </a:lnTo>
                <a:lnTo>
                  <a:pt x="5048249" y="71196"/>
                </a:lnTo>
                <a:lnTo>
                  <a:pt x="5048249" y="576503"/>
                </a:lnTo>
                <a:lnTo>
                  <a:pt x="5032627" y="617994"/>
                </a:lnTo>
                <a:lnTo>
                  <a:pt x="4996587" y="643813"/>
                </a:lnTo>
                <a:lnTo>
                  <a:pt x="4982008" y="647211"/>
                </a:lnTo>
                <a:lnTo>
                  <a:pt x="4977053" y="647699"/>
                </a:lnTo>
                <a:close/>
              </a:path>
            </a:pathLst>
          </a:custGeom>
          <a:solidFill>
            <a:srgbClr val="EDF2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66" name="Google Shape;166;p23"/>
          <p:cNvSpPr txBox="1"/>
          <p:nvPr/>
        </p:nvSpPr>
        <p:spPr>
          <a:xfrm>
            <a:off x="542348" y="1387216"/>
            <a:ext cx="3776374" cy="30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29AB"/>
                </a:solidFill>
                <a:latin typeface="Verdana"/>
                <a:ea typeface="Verdana"/>
                <a:cs typeface="Verdana"/>
                <a:sym typeface="Verdana"/>
              </a:rPr>
              <a:t>Cleaned &amp; Integrated Dataset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Complete with code and documentation for future use and expansion.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542348" y="1905018"/>
            <a:ext cx="3295853" cy="4327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29AB"/>
                </a:solidFill>
                <a:latin typeface="Verdana"/>
                <a:ea typeface="Verdana"/>
                <a:cs typeface="Verdana"/>
                <a:sym typeface="Verdana"/>
              </a:rPr>
              <a:t>Machine Learning Model(s)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Trained regression models for PPU prediction with evaluation summaries.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8" name="Google Shape;168;p23"/>
          <p:cNvSpPr txBox="1"/>
          <p:nvPr/>
        </p:nvSpPr>
        <p:spPr>
          <a:xfrm>
            <a:off x="346976" y="2586853"/>
            <a:ext cx="87300" cy="1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542348" y="2552271"/>
            <a:ext cx="3309954" cy="303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2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629AB"/>
                </a:solidFill>
                <a:latin typeface="Verdana"/>
                <a:ea typeface="Verdana"/>
                <a:cs typeface="Verdana"/>
                <a:sym typeface="Verdana"/>
              </a:rPr>
              <a:t>Visual Dashboard/Report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Key ﬁndings, model results, and feature importance analyses.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0" name="Google Shape;170;p23"/>
          <p:cNvSpPr/>
          <p:nvPr/>
        </p:nvSpPr>
        <p:spPr>
          <a:xfrm>
            <a:off x="4637081" y="1242724"/>
            <a:ext cx="4311673" cy="12945"/>
          </a:xfrm>
          <a:custGeom>
            <a:rect b="b" l="l" r="r" t="t"/>
            <a:pathLst>
              <a:path extrusionOk="0" h="19050" w="5048250">
                <a:moveTo>
                  <a:pt x="5048249" y="19049"/>
                </a:moveTo>
                <a:lnTo>
                  <a:pt x="0" y="19049"/>
                </a:lnTo>
                <a:lnTo>
                  <a:pt x="0" y="0"/>
                </a:lnTo>
                <a:lnTo>
                  <a:pt x="5048249" y="0"/>
                </a:lnTo>
                <a:lnTo>
                  <a:pt x="5048249" y="19049"/>
                </a:lnTo>
                <a:close/>
              </a:path>
            </a:pathLst>
          </a:custGeom>
          <a:solidFill>
            <a:srgbClr val="A2B3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1" name="Google Shape;171;p23"/>
          <p:cNvSpPr/>
          <p:nvPr/>
        </p:nvSpPr>
        <p:spPr>
          <a:xfrm>
            <a:off x="4637075" y="1333352"/>
            <a:ext cx="4316254" cy="1087707"/>
          </a:xfrm>
          <a:custGeom>
            <a:rect b="b" l="l" r="r" t="t"/>
            <a:pathLst>
              <a:path extrusionOk="0" h="1314450" w="5048250">
                <a:moveTo>
                  <a:pt x="4977052" y="1314449"/>
                </a:moveTo>
                <a:lnTo>
                  <a:pt x="71196" y="1314449"/>
                </a:lnTo>
                <a:lnTo>
                  <a:pt x="66240" y="1313961"/>
                </a:lnTo>
                <a:lnTo>
                  <a:pt x="29705" y="1298827"/>
                </a:lnTo>
                <a:lnTo>
                  <a:pt x="3885" y="1262787"/>
                </a:lnTo>
                <a:lnTo>
                  <a:pt x="0" y="1243253"/>
                </a:lnTo>
                <a:lnTo>
                  <a:pt x="0" y="123824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4977052" y="0"/>
                </a:lnTo>
                <a:lnTo>
                  <a:pt x="5018542" y="15621"/>
                </a:lnTo>
                <a:lnTo>
                  <a:pt x="5044362" y="51661"/>
                </a:lnTo>
                <a:lnTo>
                  <a:pt x="5048249" y="71196"/>
                </a:lnTo>
                <a:lnTo>
                  <a:pt x="5048249" y="1243253"/>
                </a:lnTo>
                <a:lnTo>
                  <a:pt x="5032626" y="1284744"/>
                </a:lnTo>
                <a:lnTo>
                  <a:pt x="4996586" y="1310564"/>
                </a:lnTo>
                <a:lnTo>
                  <a:pt x="4982007" y="1313961"/>
                </a:lnTo>
                <a:lnTo>
                  <a:pt x="4977052" y="1314449"/>
                </a:lnTo>
                <a:close/>
              </a:path>
            </a:pathLst>
          </a:custGeom>
          <a:solidFill>
            <a:srgbClr val="EEF5F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2" name="Google Shape;172;p23"/>
          <p:cNvSpPr/>
          <p:nvPr/>
        </p:nvSpPr>
        <p:spPr>
          <a:xfrm>
            <a:off x="4637081" y="2532818"/>
            <a:ext cx="4316254" cy="751332"/>
          </a:xfrm>
          <a:custGeom>
            <a:rect b="b" l="l" r="r" t="t"/>
            <a:pathLst>
              <a:path extrusionOk="0" h="1104900" w="5048250">
                <a:moveTo>
                  <a:pt x="4977052" y="1104899"/>
                </a:moveTo>
                <a:lnTo>
                  <a:pt x="71196" y="1104899"/>
                </a:lnTo>
                <a:lnTo>
                  <a:pt x="66240" y="1104411"/>
                </a:lnTo>
                <a:lnTo>
                  <a:pt x="29705" y="1089277"/>
                </a:lnTo>
                <a:lnTo>
                  <a:pt x="3885" y="1053237"/>
                </a:lnTo>
                <a:lnTo>
                  <a:pt x="0" y="1033702"/>
                </a:lnTo>
                <a:lnTo>
                  <a:pt x="0" y="10286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977052" y="0"/>
                </a:lnTo>
                <a:lnTo>
                  <a:pt x="5018542" y="15621"/>
                </a:lnTo>
                <a:lnTo>
                  <a:pt x="5044362" y="51661"/>
                </a:lnTo>
                <a:lnTo>
                  <a:pt x="5048249" y="71196"/>
                </a:lnTo>
                <a:lnTo>
                  <a:pt x="5048249" y="1033702"/>
                </a:lnTo>
                <a:lnTo>
                  <a:pt x="5032626" y="1075194"/>
                </a:lnTo>
                <a:lnTo>
                  <a:pt x="4996586" y="1101013"/>
                </a:lnTo>
                <a:lnTo>
                  <a:pt x="4982007" y="1104411"/>
                </a:lnTo>
                <a:lnTo>
                  <a:pt x="4977052" y="1104899"/>
                </a:lnTo>
                <a:close/>
              </a:path>
            </a:pathLst>
          </a:custGeom>
          <a:solidFill>
            <a:srgbClr val="F0FDF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3" name="Google Shape;173;p23"/>
          <p:cNvSpPr/>
          <p:nvPr/>
        </p:nvSpPr>
        <p:spPr>
          <a:xfrm>
            <a:off x="4637081" y="3361302"/>
            <a:ext cx="4316254" cy="608838"/>
          </a:xfrm>
          <a:custGeom>
            <a:rect b="b" l="l" r="r" t="t"/>
            <a:pathLst>
              <a:path extrusionOk="0" h="895350" w="5048250">
                <a:moveTo>
                  <a:pt x="4977052" y="895349"/>
                </a:moveTo>
                <a:lnTo>
                  <a:pt x="71196" y="895349"/>
                </a:lnTo>
                <a:lnTo>
                  <a:pt x="66240" y="894861"/>
                </a:lnTo>
                <a:lnTo>
                  <a:pt x="29705" y="879727"/>
                </a:lnTo>
                <a:lnTo>
                  <a:pt x="3885" y="843687"/>
                </a:lnTo>
                <a:lnTo>
                  <a:pt x="0" y="824153"/>
                </a:lnTo>
                <a:lnTo>
                  <a:pt x="0" y="81914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4977052" y="0"/>
                </a:lnTo>
                <a:lnTo>
                  <a:pt x="5018542" y="15621"/>
                </a:lnTo>
                <a:lnTo>
                  <a:pt x="5044362" y="51661"/>
                </a:lnTo>
                <a:lnTo>
                  <a:pt x="5048249" y="71196"/>
                </a:lnTo>
                <a:lnTo>
                  <a:pt x="5048249" y="824153"/>
                </a:lnTo>
                <a:lnTo>
                  <a:pt x="5032626" y="865644"/>
                </a:lnTo>
                <a:lnTo>
                  <a:pt x="4996586" y="891463"/>
                </a:lnTo>
                <a:lnTo>
                  <a:pt x="4982007" y="894861"/>
                </a:lnTo>
                <a:lnTo>
                  <a:pt x="4977052" y="895349"/>
                </a:lnTo>
                <a:close/>
              </a:path>
            </a:pathLst>
          </a:custGeom>
          <a:solidFill>
            <a:srgbClr val="F9F5F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4" name="Google Shape;174;p23"/>
          <p:cNvSpPr txBox="1"/>
          <p:nvPr/>
        </p:nvSpPr>
        <p:spPr>
          <a:xfrm>
            <a:off x="4723851" y="1357625"/>
            <a:ext cx="37764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3BB8"/>
                </a:solidFill>
                <a:latin typeface="Verdana"/>
                <a:ea typeface="Verdana"/>
                <a:cs typeface="Verdana"/>
                <a:sym typeface="Verdana"/>
              </a:rPr>
              <a:t>Technical Documentation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Data pipeline documentation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Code documentation with comments Methodology explanation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Guide for future expansion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5" name="Google Shape;175;p23"/>
          <p:cNvSpPr txBox="1"/>
          <p:nvPr/>
        </p:nvSpPr>
        <p:spPr>
          <a:xfrm>
            <a:off x="4723845" y="2472250"/>
            <a:ext cx="41283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16630"/>
                </a:solidFill>
                <a:latin typeface="Trebuchet MS"/>
                <a:ea typeface="Trebuchet MS"/>
                <a:cs typeface="Trebuchet MS"/>
                <a:sym typeface="Trebuchet MS"/>
              </a:rPr>
              <a:t>Final Presentation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2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Presentation to DKomplex and advisors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Summary of results and recommendations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Client sign-oﬀ/approval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6" name="Google Shape;176;p23"/>
          <p:cNvSpPr txBox="1"/>
          <p:nvPr/>
        </p:nvSpPr>
        <p:spPr>
          <a:xfrm>
            <a:off x="4711155" y="3361300"/>
            <a:ext cx="41283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D11B0"/>
                </a:solidFill>
                <a:latin typeface="Verdana"/>
                <a:ea typeface="Verdana"/>
                <a:cs typeface="Verdana"/>
                <a:sym typeface="Verdana"/>
              </a:rPr>
              <a:t>Future Team Handoﬀ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2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Lessons learned documentation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Suggestions for future improvements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7" name="Google Shape;177;p23"/>
          <p:cNvSpPr/>
          <p:nvPr/>
        </p:nvSpPr>
        <p:spPr>
          <a:xfrm>
            <a:off x="0" y="4906173"/>
            <a:ext cx="9144000" cy="233011"/>
          </a:xfrm>
          <a:custGeom>
            <a:rect b="b" l="l" r="r" t="t"/>
            <a:pathLst>
              <a:path extrusionOk="0" h="342900" w="10706100">
                <a:moveTo>
                  <a:pt x="10706099" y="342899"/>
                </a:moveTo>
                <a:lnTo>
                  <a:pt x="0" y="3428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342899"/>
                </a:lnTo>
                <a:close/>
              </a:path>
            </a:pathLst>
          </a:custGeom>
          <a:solidFill>
            <a:srgbClr val="F2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78" name="Google Shape;178;p23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DKomplex: Intelligent Pricing Forecast Model</a:t>
            </a:r>
            <a:endParaRPr/>
          </a:p>
        </p:txBody>
      </p:sp>
      <p:sp>
        <p:nvSpPr>
          <p:cNvPr id="179" name="Google Shape;179;p23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State</a:t>
            </a:r>
            <a:endParaRPr/>
          </a:p>
        </p:txBody>
      </p:sp>
      <p:sp>
        <p:nvSpPr>
          <p:cNvPr id="185" name="Google Shape;185;p24"/>
          <p:cNvSpPr txBox="1"/>
          <p:nvPr/>
        </p:nvSpPr>
        <p:spPr>
          <a:xfrm>
            <a:off x="184399" y="541535"/>
            <a:ext cx="1686161" cy="17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629AB"/>
                </a:solidFill>
                <a:latin typeface="Trebuchet MS"/>
                <a:ea typeface="Trebuchet MS"/>
                <a:cs typeface="Trebuchet MS"/>
                <a:sym typeface="Trebuchet MS"/>
              </a:rPr>
              <a:t>Milestones Achieved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86" name="Google Shape;186;p24"/>
          <p:cNvGrpSpPr/>
          <p:nvPr/>
        </p:nvGrpSpPr>
        <p:grpSpPr>
          <a:xfrm>
            <a:off x="199313" y="831719"/>
            <a:ext cx="2822925" cy="990296"/>
            <a:chOff x="233362" y="1223962"/>
            <a:chExt cx="3305175" cy="1457325"/>
          </a:xfrm>
        </p:grpSpPr>
        <p:sp>
          <p:nvSpPr>
            <p:cNvPr id="187" name="Google Shape;187;p24"/>
            <p:cNvSpPr/>
            <p:nvPr/>
          </p:nvSpPr>
          <p:spPr>
            <a:xfrm>
              <a:off x="233362" y="1223962"/>
              <a:ext cx="3305175" cy="1457325"/>
            </a:xfrm>
            <a:custGeom>
              <a:rect b="b" l="l" r="r" t="t"/>
              <a:pathLst>
                <a:path extrusionOk="0" h="1457325" w="3305175">
                  <a:moveTo>
                    <a:pt x="3238427" y="1457324"/>
                  </a:moveTo>
                  <a:lnTo>
                    <a:pt x="66746" y="1457324"/>
                  </a:lnTo>
                  <a:lnTo>
                    <a:pt x="62101" y="1456867"/>
                  </a:lnTo>
                  <a:lnTo>
                    <a:pt x="24240" y="1439717"/>
                  </a:lnTo>
                  <a:lnTo>
                    <a:pt x="2287" y="1404424"/>
                  </a:lnTo>
                  <a:lnTo>
                    <a:pt x="0" y="1390577"/>
                  </a:lnTo>
                  <a:lnTo>
                    <a:pt x="0" y="1385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238427" y="0"/>
                  </a:lnTo>
                  <a:lnTo>
                    <a:pt x="3277325" y="14645"/>
                  </a:lnTo>
                  <a:lnTo>
                    <a:pt x="3301531" y="48432"/>
                  </a:lnTo>
                  <a:lnTo>
                    <a:pt x="3305174" y="66746"/>
                  </a:lnTo>
                  <a:lnTo>
                    <a:pt x="3305174" y="1390577"/>
                  </a:lnTo>
                  <a:lnTo>
                    <a:pt x="3290529" y="1429475"/>
                  </a:lnTo>
                  <a:lnTo>
                    <a:pt x="3256741" y="1453681"/>
                  </a:lnTo>
                  <a:lnTo>
                    <a:pt x="3243073" y="1456867"/>
                  </a:lnTo>
                  <a:lnTo>
                    <a:pt x="3238427" y="1457324"/>
                  </a:lnTo>
                  <a:close/>
                </a:path>
              </a:pathLst>
            </a:custGeom>
            <a:solidFill>
              <a:srgbClr val="FDFBE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88" name="Google Shape;188;p24"/>
            <p:cNvSpPr/>
            <p:nvPr/>
          </p:nvSpPr>
          <p:spPr>
            <a:xfrm>
              <a:off x="233362" y="1223962"/>
              <a:ext cx="3305175" cy="1457325"/>
            </a:xfrm>
            <a:custGeom>
              <a:rect b="b" l="l" r="r" t="t"/>
              <a:pathLst>
                <a:path extrusionOk="0" h="1457325" w="3305175">
                  <a:moveTo>
                    <a:pt x="0" y="1385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233737" y="0"/>
                  </a:lnTo>
                  <a:lnTo>
                    <a:pt x="3238427" y="0"/>
                  </a:lnTo>
                  <a:lnTo>
                    <a:pt x="3243073" y="457"/>
                  </a:lnTo>
                  <a:lnTo>
                    <a:pt x="3273425" y="12039"/>
                  </a:lnTo>
                  <a:lnTo>
                    <a:pt x="3277325" y="14645"/>
                  </a:lnTo>
                  <a:lnTo>
                    <a:pt x="3280934" y="17606"/>
                  </a:lnTo>
                  <a:lnTo>
                    <a:pt x="3284251" y="20923"/>
                  </a:lnTo>
                  <a:lnTo>
                    <a:pt x="3287567" y="24240"/>
                  </a:lnTo>
                  <a:lnTo>
                    <a:pt x="3290529" y="27848"/>
                  </a:lnTo>
                  <a:lnTo>
                    <a:pt x="3293135" y="31748"/>
                  </a:lnTo>
                  <a:lnTo>
                    <a:pt x="3295741" y="35648"/>
                  </a:lnTo>
                  <a:lnTo>
                    <a:pt x="3305174" y="71437"/>
                  </a:lnTo>
                  <a:lnTo>
                    <a:pt x="3305174" y="1385887"/>
                  </a:lnTo>
                  <a:lnTo>
                    <a:pt x="3293135" y="1425575"/>
                  </a:lnTo>
                  <a:lnTo>
                    <a:pt x="3261075" y="1451886"/>
                  </a:lnTo>
                  <a:lnTo>
                    <a:pt x="3247673" y="1455952"/>
                  </a:lnTo>
                  <a:lnTo>
                    <a:pt x="3243073" y="1456867"/>
                  </a:lnTo>
                  <a:lnTo>
                    <a:pt x="3238427" y="1457324"/>
                  </a:lnTo>
                  <a:lnTo>
                    <a:pt x="3233737" y="1457324"/>
                  </a:lnTo>
                  <a:lnTo>
                    <a:pt x="71437" y="1457324"/>
                  </a:lnTo>
                  <a:lnTo>
                    <a:pt x="66746" y="1457324"/>
                  </a:lnTo>
                  <a:lnTo>
                    <a:pt x="62101" y="1456867"/>
                  </a:lnTo>
                  <a:lnTo>
                    <a:pt x="57500" y="1455952"/>
                  </a:lnTo>
                  <a:lnTo>
                    <a:pt x="52900" y="1455036"/>
                  </a:lnTo>
                  <a:lnTo>
                    <a:pt x="31748" y="1445285"/>
                  </a:lnTo>
                  <a:lnTo>
                    <a:pt x="27848" y="1442679"/>
                  </a:lnTo>
                  <a:lnTo>
                    <a:pt x="3642" y="1408891"/>
                  </a:lnTo>
                  <a:lnTo>
                    <a:pt x="1372" y="1399823"/>
                  </a:lnTo>
                  <a:lnTo>
                    <a:pt x="457" y="1395223"/>
                  </a:lnTo>
                  <a:lnTo>
                    <a:pt x="0" y="1390577"/>
                  </a:lnTo>
                  <a:lnTo>
                    <a:pt x="0" y="1385887"/>
                  </a:lnTo>
                  <a:close/>
                </a:path>
              </a:pathLst>
            </a:custGeom>
            <a:noFill/>
            <a:ln cap="flat" cmpd="sng" w="9525">
              <a:solidFill>
                <a:srgbClr val="FEF0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189" name="Google Shape;189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90524" y="1381124"/>
              <a:ext cx="228600" cy="228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" name="Google Shape;190;p24"/>
          <p:cNvSpPr txBox="1"/>
          <p:nvPr/>
        </p:nvSpPr>
        <p:spPr>
          <a:xfrm>
            <a:off x="322697" y="942831"/>
            <a:ext cx="2374403" cy="456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Planning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19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Conducting literature review, setting project goals, and establishing environment access.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1" name="Google Shape;191;p24"/>
          <p:cNvSpPr txBox="1"/>
          <p:nvPr/>
        </p:nvSpPr>
        <p:spPr>
          <a:xfrm>
            <a:off x="322697" y="1583611"/>
            <a:ext cx="1218658" cy="125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65F00"/>
                </a:solidFill>
                <a:latin typeface="Trebuchet MS"/>
                <a:ea typeface="Trebuchet MS"/>
                <a:cs typeface="Trebuchet MS"/>
                <a:sym typeface="Trebuchet MS"/>
              </a:rPr>
              <a:t>In Progress (Week 1-2)</a:t>
            </a:r>
            <a:endParaRPr sz="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192" name="Google Shape;192;p24"/>
          <p:cNvGrpSpPr/>
          <p:nvPr/>
        </p:nvGrpSpPr>
        <p:grpSpPr>
          <a:xfrm>
            <a:off x="3160537" y="831719"/>
            <a:ext cx="2822925" cy="990296"/>
            <a:chOff x="3700462" y="1223962"/>
            <a:chExt cx="3305175" cy="1457325"/>
          </a:xfrm>
        </p:grpSpPr>
        <p:sp>
          <p:nvSpPr>
            <p:cNvPr id="193" name="Google Shape;193;p24"/>
            <p:cNvSpPr/>
            <p:nvPr/>
          </p:nvSpPr>
          <p:spPr>
            <a:xfrm>
              <a:off x="3700462" y="1223962"/>
              <a:ext cx="3305175" cy="1457325"/>
            </a:xfrm>
            <a:custGeom>
              <a:rect b="b" l="l" r="r" t="t"/>
              <a:pathLst>
                <a:path extrusionOk="0" h="1457325" w="3305175">
                  <a:moveTo>
                    <a:pt x="3238427" y="1457324"/>
                  </a:moveTo>
                  <a:lnTo>
                    <a:pt x="66747" y="1457324"/>
                  </a:lnTo>
                  <a:lnTo>
                    <a:pt x="62101" y="1456867"/>
                  </a:lnTo>
                  <a:lnTo>
                    <a:pt x="24240" y="1439717"/>
                  </a:lnTo>
                  <a:lnTo>
                    <a:pt x="2287" y="1404424"/>
                  </a:lnTo>
                  <a:lnTo>
                    <a:pt x="0" y="1390577"/>
                  </a:lnTo>
                  <a:lnTo>
                    <a:pt x="0" y="1385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3238427" y="0"/>
                  </a:lnTo>
                  <a:lnTo>
                    <a:pt x="3277324" y="14645"/>
                  </a:lnTo>
                  <a:lnTo>
                    <a:pt x="3301531" y="48432"/>
                  </a:lnTo>
                  <a:lnTo>
                    <a:pt x="3305175" y="66746"/>
                  </a:lnTo>
                  <a:lnTo>
                    <a:pt x="3305175" y="1390577"/>
                  </a:lnTo>
                  <a:lnTo>
                    <a:pt x="3290528" y="1429475"/>
                  </a:lnTo>
                  <a:lnTo>
                    <a:pt x="3256740" y="1453681"/>
                  </a:lnTo>
                  <a:lnTo>
                    <a:pt x="3243072" y="1456867"/>
                  </a:lnTo>
                  <a:lnTo>
                    <a:pt x="3238427" y="1457324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194" name="Google Shape;194;p24"/>
            <p:cNvSpPr/>
            <p:nvPr/>
          </p:nvSpPr>
          <p:spPr>
            <a:xfrm>
              <a:off x="3700462" y="1223962"/>
              <a:ext cx="3305175" cy="1457325"/>
            </a:xfrm>
            <a:custGeom>
              <a:rect b="b" l="l" r="r" t="t"/>
              <a:pathLst>
                <a:path extrusionOk="0" h="1457325" w="3305175">
                  <a:moveTo>
                    <a:pt x="0" y="1385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3233737" y="0"/>
                  </a:lnTo>
                  <a:lnTo>
                    <a:pt x="3238427" y="0"/>
                  </a:lnTo>
                  <a:lnTo>
                    <a:pt x="3243073" y="457"/>
                  </a:lnTo>
                  <a:lnTo>
                    <a:pt x="3273424" y="12039"/>
                  </a:lnTo>
                  <a:lnTo>
                    <a:pt x="3277324" y="14645"/>
                  </a:lnTo>
                  <a:lnTo>
                    <a:pt x="3280934" y="17606"/>
                  </a:lnTo>
                  <a:lnTo>
                    <a:pt x="3284250" y="20923"/>
                  </a:lnTo>
                  <a:lnTo>
                    <a:pt x="3287567" y="24240"/>
                  </a:lnTo>
                  <a:lnTo>
                    <a:pt x="3290528" y="27848"/>
                  </a:lnTo>
                  <a:lnTo>
                    <a:pt x="3293134" y="31748"/>
                  </a:lnTo>
                  <a:lnTo>
                    <a:pt x="3295740" y="35648"/>
                  </a:lnTo>
                  <a:lnTo>
                    <a:pt x="3303801" y="57500"/>
                  </a:lnTo>
                  <a:lnTo>
                    <a:pt x="3304717" y="62101"/>
                  </a:lnTo>
                  <a:lnTo>
                    <a:pt x="3305175" y="66746"/>
                  </a:lnTo>
                  <a:lnTo>
                    <a:pt x="3305175" y="71437"/>
                  </a:lnTo>
                  <a:lnTo>
                    <a:pt x="3305175" y="1385887"/>
                  </a:lnTo>
                  <a:lnTo>
                    <a:pt x="3305175" y="1390577"/>
                  </a:lnTo>
                  <a:lnTo>
                    <a:pt x="3304717" y="1395223"/>
                  </a:lnTo>
                  <a:lnTo>
                    <a:pt x="3303801" y="1399823"/>
                  </a:lnTo>
                  <a:lnTo>
                    <a:pt x="3302886" y="1404424"/>
                  </a:lnTo>
                  <a:lnTo>
                    <a:pt x="3280934" y="1439717"/>
                  </a:lnTo>
                  <a:lnTo>
                    <a:pt x="3247673" y="1455952"/>
                  </a:lnTo>
                  <a:lnTo>
                    <a:pt x="3243072" y="1456867"/>
                  </a:lnTo>
                  <a:lnTo>
                    <a:pt x="3238427" y="1457324"/>
                  </a:lnTo>
                  <a:lnTo>
                    <a:pt x="3233737" y="1457324"/>
                  </a:lnTo>
                  <a:lnTo>
                    <a:pt x="71437" y="1457324"/>
                  </a:lnTo>
                  <a:lnTo>
                    <a:pt x="66747" y="1457324"/>
                  </a:lnTo>
                  <a:lnTo>
                    <a:pt x="62101" y="1456867"/>
                  </a:lnTo>
                  <a:lnTo>
                    <a:pt x="57500" y="1455952"/>
                  </a:lnTo>
                  <a:lnTo>
                    <a:pt x="52899" y="1455036"/>
                  </a:lnTo>
                  <a:lnTo>
                    <a:pt x="48432" y="1453681"/>
                  </a:lnTo>
                  <a:lnTo>
                    <a:pt x="44099" y="1451886"/>
                  </a:lnTo>
                  <a:lnTo>
                    <a:pt x="39765" y="1450091"/>
                  </a:lnTo>
                  <a:lnTo>
                    <a:pt x="35648" y="1447891"/>
                  </a:lnTo>
                  <a:lnTo>
                    <a:pt x="31748" y="1445285"/>
                  </a:lnTo>
                  <a:lnTo>
                    <a:pt x="27848" y="1442679"/>
                  </a:lnTo>
                  <a:lnTo>
                    <a:pt x="24240" y="1439717"/>
                  </a:lnTo>
                  <a:lnTo>
                    <a:pt x="20923" y="1436401"/>
                  </a:lnTo>
                  <a:lnTo>
                    <a:pt x="17606" y="1433084"/>
                  </a:lnTo>
                  <a:lnTo>
                    <a:pt x="457" y="1395223"/>
                  </a:lnTo>
                  <a:lnTo>
                    <a:pt x="0" y="1390577"/>
                  </a:lnTo>
                  <a:lnTo>
                    <a:pt x="0" y="1385887"/>
                  </a:lnTo>
                  <a:close/>
                </a:path>
              </a:pathLst>
            </a:custGeom>
            <a:noFill/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195" name="Google Shape;195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7624" y="1381124"/>
              <a:ext cx="228600" cy="228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6" name="Google Shape;196;p24"/>
          <p:cNvSpPr txBox="1"/>
          <p:nvPr/>
        </p:nvSpPr>
        <p:spPr>
          <a:xfrm>
            <a:off x="3283922" y="942831"/>
            <a:ext cx="2474737" cy="4560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Collection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19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Planning data extraction strategy and schema alignment approach for eﬃcient processing.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3283922" y="1583611"/>
            <a:ext cx="1225708" cy="125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Not Started (Week 2-3)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8" name="Google Shape;198;p24"/>
          <p:cNvGrpSpPr/>
          <p:nvPr/>
        </p:nvGrpSpPr>
        <p:grpSpPr>
          <a:xfrm>
            <a:off x="6121760" y="831719"/>
            <a:ext cx="2822925" cy="990296"/>
            <a:chOff x="7167561" y="1223962"/>
            <a:chExt cx="3305175" cy="1457325"/>
          </a:xfrm>
        </p:grpSpPr>
        <p:sp>
          <p:nvSpPr>
            <p:cNvPr id="199" name="Google Shape;199;p24"/>
            <p:cNvSpPr/>
            <p:nvPr/>
          </p:nvSpPr>
          <p:spPr>
            <a:xfrm>
              <a:off x="7167561" y="1223962"/>
              <a:ext cx="3305175" cy="1457325"/>
            </a:xfrm>
            <a:custGeom>
              <a:rect b="b" l="l" r="r" t="t"/>
              <a:pathLst>
                <a:path extrusionOk="0" h="1457325" w="3305175">
                  <a:moveTo>
                    <a:pt x="3238426" y="1457324"/>
                  </a:moveTo>
                  <a:lnTo>
                    <a:pt x="66746" y="1457324"/>
                  </a:lnTo>
                  <a:lnTo>
                    <a:pt x="62100" y="1456867"/>
                  </a:lnTo>
                  <a:lnTo>
                    <a:pt x="24239" y="1439717"/>
                  </a:lnTo>
                  <a:lnTo>
                    <a:pt x="2287" y="1404424"/>
                  </a:lnTo>
                  <a:lnTo>
                    <a:pt x="0" y="1390577"/>
                  </a:lnTo>
                  <a:lnTo>
                    <a:pt x="0" y="13858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238426" y="0"/>
                  </a:lnTo>
                  <a:lnTo>
                    <a:pt x="3277324" y="14645"/>
                  </a:lnTo>
                  <a:lnTo>
                    <a:pt x="3301530" y="48432"/>
                  </a:lnTo>
                  <a:lnTo>
                    <a:pt x="3305173" y="66746"/>
                  </a:lnTo>
                  <a:lnTo>
                    <a:pt x="3305173" y="1390577"/>
                  </a:lnTo>
                  <a:lnTo>
                    <a:pt x="3290529" y="1429475"/>
                  </a:lnTo>
                  <a:lnTo>
                    <a:pt x="3256740" y="1453681"/>
                  </a:lnTo>
                  <a:lnTo>
                    <a:pt x="3243071" y="1456867"/>
                  </a:lnTo>
                  <a:lnTo>
                    <a:pt x="3238426" y="1457324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7167561" y="1223962"/>
              <a:ext cx="3305175" cy="1457325"/>
            </a:xfrm>
            <a:custGeom>
              <a:rect b="b" l="l" r="r" t="t"/>
              <a:pathLst>
                <a:path extrusionOk="0" h="1457325" w="3305175">
                  <a:moveTo>
                    <a:pt x="0" y="1385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39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233737" y="0"/>
                  </a:lnTo>
                  <a:lnTo>
                    <a:pt x="3238426" y="0"/>
                  </a:lnTo>
                  <a:lnTo>
                    <a:pt x="3243071" y="457"/>
                  </a:lnTo>
                  <a:lnTo>
                    <a:pt x="3247672" y="1372"/>
                  </a:lnTo>
                  <a:lnTo>
                    <a:pt x="3252273" y="2287"/>
                  </a:lnTo>
                  <a:lnTo>
                    <a:pt x="3256740" y="3642"/>
                  </a:lnTo>
                  <a:lnTo>
                    <a:pt x="3261073" y="5437"/>
                  </a:lnTo>
                  <a:lnTo>
                    <a:pt x="3265407" y="7232"/>
                  </a:lnTo>
                  <a:lnTo>
                    <a:pt x="3269524" y="9433"/>
                  </a:lnTo>
                  <a:lnTo>
                    <a:pt x="3273424" y="12039"/>
                  </a:lnTo>
                  <a:lnTo>
                    <a:pt x="3277324" y="14645"/>
                  </a:lnTo>
                  <a:lnTo>
                    <a:pt x="3280933" y="17606"/>
                  </a:lnTo>
                  <a:lnTo>
                    <a:pt x="3284250" y="20923"/>
                  </a:lnTo>
                  <a:lnTo>
                    <a:pt x="3287567" y="24240"/>
                  </a:lnTo>
                  <a:lnTo>
                    <a:pt x="3290529" y="27848"/>
                  </a:lnTo>
                  <a:lnTo>
                    <a:pt x="3293134" y="31748"/>
                  </a:lnTo>
                  <a:lnTo>
                    <a:pt x="3295740" y="35648"/>
                  </a:lnTo>
                  <a:lnTo>
                    <a:pt x="3303801" y="57500"/>
                  </a:lnTo>
                  <a:lnTo>
                    <a:pt x="3304716" y="62101"/>
                  </a:lnTo>
                  <a:lnTo>
                    <a:pt x="3305173" y="66746"/>
                  </a:lnTo>
                  <a:lnTo>
                    <a:pt x="3305174" y="71437"/>
                  </a:lnTo>
                  <a:lnTo>
                    <a:pt x="3305174" y="1385887"/>
                  </a:lnTo>
                  <a:lnTo>
                    <a:pt x="3305173" y="1390577"/>
                  </a:lnTo>
                  <a:lnTo>
                    <a:pt x="3304716" y="1395223"/>
                  </a:lnTo>
                  <a:lnTo>
                    <a:pt x="3303801" y="1399823"/>
                  </a:lnTo>
                  <a:lnTo>
                    <a:pt x="3302886" y="1404424"/>
                  </a:lnTo>
                  <a:lnTo>
                    <a:pt x="3280933" y="1439717"/>
                  </a:lnTo>
                  <a:lnTo>
                    <a:pt x="3247672" y="1455952"/>
                  </a:lnTo>
                  <a:lnTo>
                    <a:pt x="3243071" y="1456867"/>
                  </a:lnTo>
                  <a:lnTo>
                    <a:pt x="3238426" y="1457324"/>
                  </a:lnTo>
                  <a:lnTo>
                    <a:pt x="3233737" y="1457324"/>
                  </a:lnTo>
                  <a:lnTo>
                    <a:pt x="71437" y="1457324"/>
                  </a:lnTo>
                  <a:lnTo>
                    <a:pt x="66746" y="1457324"/>
                  </a:lnTo>
                  <a:lnTo>
                    <a:pt x="62100" y="1456867"/>
                  </a:lnTo>
                  <a:lnTo>
                    <a:pt x="57500" y="1455952"/>
                  </a:lnTo>
                  <a:lnTo>
                    <a:pt x="52900" y="1455036"/>
                  </a:lnTo>
                  <a:lnTo>
                    <a:pt x="17606" y="1433084"/>
                  </a:lnTo>
                  <a:lnTo>
                    <a:pt x="457" y="1395223"/>
                  </a:lnTo>
                  <a:lnTo>
                    <a:pt x="0" y="1390577"/>
                  </a:lnTo>
                  <a:lnTo>
                    <a:pt x="0" y="1385887"/>
                  </a:lnTo>
                  <a:close/>
                </a:path>
              </a:pathLst>
            </a:custGeom>
            <a:noFill/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pic>
          <p:nvPicPr>
            <p:cNvPr id="201" name="Google Shape;201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324724" y="1381124"/>
              <a:ext cx="228599" cy="228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24"/>
          <p:cNvSpPr txBox="1"/>
          <p:nvPr/>
        </p:nvSpPr>
        <p:spPr>
          <a:xfrm>
            <a:off x="6245146" y="942831"/>
            <a:ext cx="2445993" cy="766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Engineering</a:t>
            </a:r>
            <a:endParaRPr sz="10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l">
              <a:lnSpc>
                <a:spcPct val="119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Planning for economic features and synthetic competitor data strategy to enhance model accuracy.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Not Started (Week 4-5)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3" name="Google Shape;203;p24"/>
          <p:cNvGrpSpPr/>
          <p:nvPr/>
        </p:nvGrpSpPr>
        <p:grpSpPr>
          <a:xfrm>
            <a:off x="199313" y="1957939"/>
            <a:ext cx="4287267" cy="2789658"/>
            <a:chOff x="233362" y="2881312"/>
            <a:chExt cx="5019675" cy="4105275"/>
          </a:xfrm>
        </p:grpSpPr>
        <p:sp>
          <p:nvSpPr>
            <p:cNvPr id="204" name="Google Shape;204;p24"/>
            <p:cNvSpPr/>
            <p:nvPr/>
          </p:nvSpPr>
          <p:spPr>
            <a:xfrm>
              <a:off x="233362" y="2881312"/>
              <a:ext cx="5019675" cy="4105275"/>
            </a:xfrm>
            <a:custGeom>
              <a:rect b="b" l="l" r="r" t="t"/>
              <a:pathLst>
                <a:path extrusionOk="0" h="4105275" w="5019675">
                  <a:moveTo>
                    <a:pt x="4952926" y="4105274"/>
                  </a:moveTo>
                  <a:lnTo>
                    <a:pt x="66746" y="4105274"/>
                  </a:lnTo>
                  <a:lnTo>
                    <a:pt x="62101" y="4104816"/>
                  </a:lnTo>
                  <a:lnTo>
                    <a:pt x="24240" y="4087667"/>
                  </a:lnTo>
                  <a:lnTo>
                    <a:pt x="2287" y="4052374"/>
                  </a:lnTo>
                  <a:lnTo>
                    <a:pt x="0" y="4038528"/>
                  </a:lnTo>
                  <a:lnTo>
                    <a:pt x="0" y="40338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952926" y="0"/>
                  </a:lnTo>
                  <a:lnTo>
                    <a:pt x="4991825" y="14645"/>
                  </a:lnTo>
                  <a:lnTo>
                    <a:pt x="5016030" y="48432"/>
                  </a:lnTo>
                  <a:lnTo>
                    <a:pt x="5019674" y="66746"/>
                  </a:lnTo>
                  <a:lnTo>
                    <a:pt x="5019674" y="4038528"/>
                  </a:lnTo>
                  <a:lnTo>
                    <a:pt x="5005028" y="4077425"/>
                  </a:lnTo>
                  <a:lnTo>
                    <a:pt x="4971240" y="4101630"/>
                  </a:lnTo>
                  <a:lnTo>
                    <a:pt x="4957572" y="4104816"/>
                  </a:lnTo>
                  <a:lnTo>
                    <a:pt x="4952926" y="4105274"/>
                  </a:lnTo>
                  <a:close/>
                </a:path>
              </a:pathLst>
            </a:custGeom>
            <a:solidFill>
              <a:srgbClr val="F8FAF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05" name="Google Shape;205;p24"/>
            <p:cNvSpPr/>
            <p:nvPr/>
          </p:nvSpPr>
          <p:spPr>
            <a:xfrm>
              <a:off x="233362" y="2881312"/>
              <a:ext cx="5019675" cy="4105275"/>
            </a:xfrm>
            <a:custGeom>
              <a:rect b="b" l="l" r="r" t="t"/>
              <a:pathLst>
                <a:path extrusionOk="0" h="4105275" w="5019675">
                  <a:moveTo>
                    <a:pt x="0" y="40338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948237" y="0"/>
                  </a:lnTo>
                  <a:lnTo>
                    <a:pt x="4952926" y="0"/>
                  </a:lnTo>
                  <a:lnTo>
                    <a:pt x="4957572" y="457"/>
                  </a:lnTo>
                  <a:lnTo>
                    <a:pt x="4995433" y="17606"/>
                  </a:lnTo>
                  <a:lnTo>
                    <a:pt x="4998750" y="20923"/>
                  </a:lnTo>
                  <a:lnTo>
                    <a:pt x="5002066" y="24239"/>
                  </a:lnTo>
                  <a:lnTo>
                    <a:pt x="5018301" y="57500"/>
                  </a:lnTo>
                  <a:lnTo>
                    <a:pt x="5019217" y="62100"/>
                  </a:lnTo>
                  <a:lnTo>
                    <a:pt x="5019674" y="66746"/>
                  </a:lnTo>
                  <a:lnTo>
                    <a:pt x="5019674" y="71437"/>
                  </a:lnTo>
                  <a:lnTo>
                    <a:pt x="5019674" y="4033837"/>
                  </a:lnTo>
                  <a:lnTo>
                    <a:pt x="5019674" y="4038528"/>
                  </a:lnTo>
                  <a:lnTo>
                    <a:pt x="5019217" y="4043173"/>
                  </a:lnTo>
                  <a:lnTo>
                    <a:pt x="5018301" y="4047774"/>
                  </a:lnTo>
                  <a:lnTo>
                    <a:pt x="5017385" y="4052374"/>
                  </a:lnTo>
                  <a:lnTo>
                    <a:pt x="4995433" y="4087667"/>
                  </a:lnTo>
                  <a:lnTo>
                    <a:pt x="4962173" y="4103900"/>
                  </a:lnTo>
                  <a:lnTo>
                    <a:pt x="4957572" y="4104816"/>
                  </a:lnTo>
                  <a:lnTo>
                    <a:pt x="4952926" y="4105274"/>
                  </a:lnTo>
                  <a:lnTo>
                    <a:pt x="4948237" y="4105274"/>
                  </a:lnTo>
                  <a:lnTo>
                    <a:pt x="71437" y="4105274"/>
                  </a:lnTo>
                  <a:lnTo>
                    <a:pt x="66746" y="4105274"/>
                  </a:lnTo>
                  <a:lnTo>
                    <a:pt x="62101" y="4104816"/>
                  </a:lnTo>
                  <a:lnTo>
                    <a:pt x="57500" y="4103900"/>
                  </a:lnTo>
                  <a:lnTo>
                    <a:pt x="52900" y="4102985"/>
                  </a:lnTo>
                  <a:lnTo>
                    <a:pt x="31748" y="4093234"/>
                  </a:lnTo>
                  <a:lnTo>
                    <a:pt x="27848" y="4090628"/>
                  </a:lnTo>
                  <a:lnTo>
                    <a:pt x="3642" y="4056841"/>
                  </a:lnTo>
                  <a:lnTo>
                    <a:pt x="1372" y="4047774"/>
                  </a:lnTo>
                  <a:lnTo>
                    <a:pt x="457" y="4043173"/>
                  </a:lnTo>
                  <a:lnTo>
                    <a:pt x="0" y="4038528"/>
                  </a:lnTo>
                  <a:lnTo>
                    <a:pt x="0" y="4033837"/>
                  </a:lnTo>
                  <a:close/>
                </a:path>
              </a:pathLst>
            </a:custGeom>
            <a:noFill/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401350" y="2075525"/>
            <a:ext cx="36837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Activities</a:t>
            </a:r>
            <a:endParaRPr/>
          </a:p>
          <a:p>
            <a:pPr indent="-279400" lvl="0" marL="457200" marR="0" rtl="0" algn="l">
              <a:lnSpc>
                <a:spcPct val="166700"/>
              </a:lnSpc>
              <a:spcBef>
                <a:spcPts val="3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Tahoma"/>
              <a:buChar char="●"/>
            </a:pPr>
            <a:r>
              <a:rPr b="0"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Reviewing literature on machine learning for price prediction </a:t>
            </a:r>
            <a:endParaRPr b="0" sz="8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667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Tahoma"/>
              <a:buChar char="●"/>
            </a:pPr>
            <a:r>
              <a:rPr b="0"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Establishing communication channels with DKomplex stakeholders </a:t>
            </a:r>
            <a:endParaRPr b="0" sz="8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667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Tahoma"/>
              <a:buChar char="●"/>
            </a:pPr>
            <a:r>
              <a:rPr b="0"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Securing necessary NDAs  and access permissions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304800" rtl="0" algn="l">
              <a:lnSpc>
                <a:spcPct val="1667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Tahoma"/>
              <a:buChar char="●"/>
            </a:pPr>
            <a:r>
              <a:rPr b="0"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Understanding previous team's contributions and challenges</a:t>
            </a:r>
            <a:endParaRPr b="0" sz="8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304800" rtl="0" algn="l">
              <a:lnSpc>
                <a:spcPct val="1667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Tahoma"/>
              <a:buChar char="●"/>
            </a:pPr>
            <a:r>
              <a:rPr b="0"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Analyzing existing pricing strategies and historical data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07" name="Google Shape;207;p24"/>
          <p:cNvGrpSpPr/>
          <p:nvPr/>
        </p:nvGrpSpPr>
        <p:grpSpPr>
          <a:xfrm>
            <a:off x="4657419" y="1957939"/>
            <a:ext cx="4287267" cy="2789658"/>
            <a:chOff x="5453061" y="2881312"/>
            <a:chExt cx="5019675" cy="4105275"/>
          </a:xfrm>
        </p:grpSpPr>
        <p:sp>
          <p:nvSpPr>
            <p:cNvPr id="208" name="Google Shape;208;p24"/>
            <p:cNvSpPr/>
            <p:nvPr/>
          </p:nvSpPr>
          <p:spPr>
            <a:xfrm>
              <a:off x="5453061" y="2881312"/>
              <a:ext cx="5019675" cy="4105275"/>
            </a:xfrm>
            <a:custGeom>
              <a:rect b="b" l="l" r="r" t="t"/>
              <a:pathLst>
                <a:path extrusionOk="0" h="4105275" w="5019675">
                  <a:moveTo>
                    <a:pt x="4952926" y="4105274"/>
                  </a:moveTo>
                  <a:lnTo>
                    <a:pt x="66747" y="4105274"/>
                  </a:lnTo>
                  <a:lnTo>
                    <a:pt x="62102" y="4104816"/>
                  </a:lnTo>
                  <a:lnTo>
                    <a:pt x="24240" y="4087667"/>
                  </a:lnTo>
                  <a:lnTo>
                    <a:pt x="2287" y="4052374"/>
                  </a:lnTo>
                  <a:lnTo>
                    <a:pt x="0" y="4038528"/>
                  </a:lnTo>
                  <a:lnTo>
                    <a:pt x="0" y="40338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4952926" y="0"/>
                  </a:lnTo>
                  <a:lnTo>
                    <a:pt x="4991824" y="14645"/>
                  </a:lnTo>
                  <a:lnTo>
                    <a:pt x="5016031" y="48432"/>
                  </a:lnTo>
                  <a:lnTo>
                    <a:pt x="5019674" y="66746"/>
                  </a:lnTo>
                  <a:lnTo>
                    <a:pt x="5019674" y="4038528"/>
                  </a:lnTo>
                  <a:lnTo>
                    <a:pt x="5005029" y="4077425"/>
                  </a:lnTo>
                  <a:lnTo>
                    <a:pt x="4971240" y="4101630"/>
                  </a:lnTo>
                  <a:lnTo>
                    <a:pt x="4957571" y="4104816"/>
                  </a:lnTo>
                  <a:lnTo>
                    <a:pt x="4952926" y="4105274"/>
                  </a:lnTo>
                  <a:close/>
                </a:path>
              </a:pathLst>
            </a:custGeom>
            <a:solidFill>
              <a:srgbClr val="EEF5F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09" name="Google Shape;209;p24"/>
            <p:cNvSpPr/>
            <p:nvPr/>
          </p:nvSpPr>
          <p:spPr>
            <a:xfrm>
              <a:off x="5453061" y="2881312"/>
              <a:ext cx="5019675" cy="4105275"/>
            </a:xfrm>
            <a:custGeom>
              <a:rect b="b" l="l" r="r" t="t"/>
              <a:pathLst>
                <a:path extrusionOk="0" h="4105275" w="5019675">
                  <a:moveTo>
                    <a:pt x="0" y="40338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7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2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948237" y="0"/>
                  </a:lnTo>
                  <a:lnTo>
                    <a:pt x="4952926" y="0"/>
                  </a:lnTo>
                  <a:lnTo>
                    <a:pt x="4957571" y="457"/>
                  </a:lnTo>
                  <a:lnTo>
                    <a:pt x="4962172" y="1372"/>
                  </a:lnTo>
                  <a:lnTo>
                    <a:pt x="4966773" y="2287"/>
                  </a:lnTo>
                  <a:lnTo>
                    <a:pt x="4998750" y="20923"/>
                  </a:lnTo>
                  <a:lnTo>
                    <a:pt x="5002068" y="24239"/>
                  </a:lnTo>
                  <a:lnTo>
                    <a:pt x="5018301" y="57500"/>
                  </a:lnTo>
                  <a:lnTo>
                    <a:pt x="5019217" y="62100"/>
                  </a:lnTo>
                  <a:lnTo>
                    <a:pt x="5019674" y="66746"/>
                  </a:lnTo>
                  <a:lnTo>
                    <a:pt x="5019675" y="71437"/>
                  </a:lnTo>
                  <a:lnTo>
                    <a:pt x="5019675" y="4033837"/>
                  </a:lnTo>
                  <a:lnTo>
                    <a:pt x="5019674" y="4038528"/>
                  </a:lnTo>
                  <a:lnTo>
                    <a:pt x="5019217" y="4043173"/>
                  </a:lnTo>
                  <a:lnTo>
                    <a:pt x="5018301" y="4047774"/>
                  </a:lnTo>
                  <a:lnTo>
                    <a:pt x="5017386" y="4052374"/>
                  </a:lnTo>
                  <a:lnTo>
                    <a:pt x="4995433" y="4087667"/>
                  </a:lnTo>
                  <a:lnTo>
                    <a:pt x="4962172" y="4103900"/>
                  </a:lnTo>
                  <a:lnTo>
                    <a:pt x="4957571" y="4104816"/>
                  </a:lnTo>
                  <a:lnTo>
                    <a:pt x="4952926" y="4105274"/>
                  </a:lnTo>
                  <a:lnTo>
                    <a:pt x="4948237" y="4105274"/>
                  </a:lnTo>
                  <a:lnTo>
                    <a:pt x="71438" y="4105274"/>
                  </a:lnTo>
                  <a:lnTo>
                    <a:pt x="31748" y="4093234"/>
                  </a:lnTo>
                  <a:lnTo>
                    <a:pt x="27848" y="4090628"/>
                  </a:lnTo>
                  <a:lnTo>
                    <a:pt x="3642" y="4056841"/>
                  </a:lnTo>
                  <a:lnTo>
                    <a:pt x="0" y="4038528"/>
                  </a:lnTo>
                  <a:lnTo>
                    <a:pt x="0" y="4033837"/>
                  </a:lnTo>
                  <a:close/>
                </a:path>
              </a:pathLst>
            </a:custGeom>
            <a:noFill/>
            <a:ln cap="flat" cmpd="sng" w="9525">
              <a:solidFill>
                <a:srgbClr val="BDD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10" name="Google Shape;210;p24"/>
          <p:cNvSpPr txBox="1"/>
          <p:nvPr/>
        </p:nvSpPr>
        <p:spPr>
          <a:xfrm>
            <a:off x="4780800" y="2075525"/>
            <a:ext cx="36180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3BB8"/>
                </a:solidFill>
                <a:latin typeface="Trebuchet MS"/>
                <a:ea typeface="Trebuchet MS"/>
                <a:cs typeface="Trebuchet MS"/>
                <a:sym typeface="Trebuchet MS"/>
              </a:rPr>
              <a:t>Initial Progress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-279400" lvl="0" marL="457200" marR="0" rtl="0" algn="l">
              <a:lnSpc>
                <a:spcPct val="166700"/>
              </a:lnSpc>
              <a:spcBef>
                <a:spcPts val="3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Tahoma"/>
              <a:buChar char="●"/>
            </a:pP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Completed project proposal with detailed goals and deliverables </a:t>
            </a:r>
            <a:endParaRPr sz="8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667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Tahoma"/>
              <a:buChar char="●"/>
            </a:pP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Identiﬁed key research papers on similar pricing models </a:t>
            </a:r>
            <a:endParaRPr sz="800">
              <a:solidFill>
                <a:srgbClr val="354152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667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Tahoma"/>
              <a:buChar char="●"/>
            </a:pP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Established team roles and</a:t>
            </a: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responsibilities</a:t>
            </a:r>
            <a:endParaRPr sz="800">
              <a:latin typeface="Tahoma"/>
              <a:ea typeface="Tahoma"/>
              <a:cs typeface="Tahoma"/>
              <a:sym typeface="Tahoma"/>
            </a:endParaRPr>
          </a:p>
          <a:p>
            <a:pPr indent="-279400" lvl="0" marL="457200" marR="0" rtl="0" algn="l">
              <a:lnSpc>
                <a:spcPct val="1667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Tahoma"/>
              <a:buChar char="●"/>
            </a:pPr>
            <a:r>
              <a:rPr lang="en" sz="800">
                <a:solidFill>
                  <a:srgbClr val="354152"/>
                </a:solidFill>
                <a:latin typeface="Tahoma"/>
                <a:ea typeface="Tahoma"/>
                <a:cs typeface="Tahoma"/>
                <a:sym typeface="Tahoma"/>
              </a:rPr>
              <a:t>Created initial project timeline and risk assessment</a:t>
            </a:r>
            <a:endParaRPr sz="8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1" name="Google Shape;211;p24"/>
          <p:cNvSpPr/>
          <p:nvPr/>
        </p:nvSpPr>
        <p:spPr>
          <a:xfrm>
            <a:off x="0" y="4906173"/>
            <a:ext cx="9144000" cy="233011"/>
          </a:xfrm>
          <a:custGeom>
            <a:rect b="b" l="l" r="r" t="t"/>
            <a:pathLst>
              <a:path extrusionOk="0" h="342900" w="10706100">
                <a:moveTo>
                  <a:pt x="10706099" y="342899"/>
                </a:moveTo>
                <a:lnTo>
                  <a:pt x="0" y="3428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342899"/>
                </a:lnTo>
                <a:close/>
              </a:path>
            </a:pathLst>
          </a:custGeom>
          <a:solidFill>
            <a:srgbClr val="F2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2" name="Google Shape;212;p24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DKomplex: Intelligent Pricing Forecast Model</a:t>
            </a:r>
            <a:endParaRPr/>
          </a:p>
        </p:txBody>
      </p:sp>
      <p:sp>
        <p:nvSpPr>
          <p:cNvPr id="213" name="Google Shape;213;p24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/>
          <p:nvPr/>
        </p:nvSpPr>
        <p:spPr>
          <a:xfrm>
            <a:off x="0" y="0"/>
            <a:ext cx="9144000" cy="440132"/>
          </a:xfrm>
          <a:custGeom>
            <a:rect b="b" l="l" r="r" t="t"/>
            <a:pathLst>
              <a:path extrusionOk="0" h="647700" w="10706100">
                <a:moveTo>
                  <a:pt x="10706099" y="647699"/>
                </a:moveTo>
                <a:lnTo>
                  <a:pt x="0" y="6476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647699"/>
                </a:lnTo>
                <a:close/>
              </a:path>
            </a:pathLst>
          </a:custGeom>
          <a:solidFill>
            <a:srgbClr val="432DD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19" name="Google Shape;219;p25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Timeline</a:t>
            </a:r>
            <a:endParaRPr/>
          </a:p>
        </p:txBody>
      </p:sp>
      <p:grpSp>
        <p:nvGrpSpPr>
          <p:cNvPr id="220" name="Google Shape;220;p25"/>
          <p:cNvGrpSpPr/>
          <p:nvPr/>
        </p:nvGrpSpPr>
        <p:grpSpPr>
          <a:xfrm>
            <a:off x="1452150" y="2980645"/>
            <a:ext cx="6239777" cy="1369140"/>
            <a:chOff x="1700212" y="4386262"/>
            <a:chExt cx="7305675" cy="1685925"/>
          </a:xfrm>
        </p:grpSpPr>
        <p:sp>
          <p:nvSpPr>
            <p:cNvPr id="221" name="Google Shape;221;p25"/>
            <p:cNvSpPr/>
            <p:nvPr/>
          </p:nvSpPr>
          <p:spPr>
            <a:xfrm>
              <a:off x="1700212" y="4386262"/>
              <a:ext cx="7305675" cy="1685925"/>
            </a:xfrm>
            <a:custGeom>
              <a:rect b="b" l="l" r="r" t="t"/>
              <a:pathLst>
                <a:path extrusionOk="0" h="1685925" w="7305675">
                  <a:moveTo>
                    <a:pt x="7238927" y="1685924"/>
                  </a:moveTo>
                  <a:lnTo>
                    <a:pt x="66747" y="1685924"/>
                  </a:lnTo>
                  <a:lnTo>
                    <a:pt x="62101" y="1685466"/>
                  </a:lnTo>
                  <a:lnTo>
                    <a:pt x="24240" y="1668317"/>
                  </a:lnTo>
                  <a:lnTo>
                    <a:pt x="2287" y="1633024"/>
                  </a:lnTo>
                  <a:lnTo>
                    <a:pt x="0" y="1619177"/>
                  </a:lnTo>
                  <a:lnTo>
                    <a:pt x="0" y="16144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7238927" y="0"/>
                  </a:lnTo>
                  <a:lnTo>
                    <a:pt x="7277825" y="14645"/>
                  </a:lnTo>
                  <a:lnTo>
                    <a:pt x="7302030" y="48432"/>
                  </a:lnTo>
                  <a:lnTo>
                    <a:pt x="7305674" y="66746"/>
                  </a:lnTo>
                  <a:lnTo>
                    <a:pt x="7305674" y="1619177"/>
                  </a:lnTo>
                  <a:lnTo>
                    <a:pt x="7291027" y="1658075"/>
                  </a:lnTo>
                  <a:lnTo>
                    <a:pt x="7257240" y="1682280"/>
                  </a:lnTo>
                  <a:lnTo>
                    <a:pt x="7243573" y="1685466"/>
                  </a:lnTo>
                  <a:lnTo>
                    <a:pt x="7238927" y="1685924"/>
                  </a:lnTo>
                  <a:close/>
                </a:path>
              </a:pathLst>
            </a:custGeom>
            <a:solidFill>
              <a:srgbClr val="EDF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22" name="Google Shape;222;p25"/>
            <p:cNvSpPr/>
            <p:nvPr/>
          </p:nvSpPr>
          <p:spPr>
            <a:xfrm>
              <a:off x="1700212" y="4386262"/>
              <a:ext cx="7305675" cy="1685925"/>
            </a:xfrm>
            <a:custGeom>
              <a:rect b="b" l="l" r="r" t="t"/>
              <a:pathLst>
                <a:path extrusionOk="0" h="1685925" w="7305675">
                  <a:moveTo>
                    <a:pt x="0" y="16144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9" y="9432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7234237" y="0"/>
                  </a:lnTo>
                  <a:lnTo>
                    <a:pt x="7238927" y="0"/>
                  </a:lnTo>
                  <a:lnTo>
                    <a:pt x="7243573" y="457"/>
                  </a:lnTo>
                  <a:lnTo>
                    <a:pt x="7248173" y="1372"/>
                  </a:lnTo>
                  <a:lnTo>
                    <a:pt x="7252773" y="2287"/>
                  </a:lnTo>
                  <a:lnTo>
                    <a:pt x="7257240" y="3642"/>
                  </a:lnTo>
                  <a:lnTo>
                    <a:pt x="7261573" y="5437"/>
                  </a:lnTo>
                  <a:lnTo>
                    <a:pt x="7265907" y="7232"/>
                  </a:lnTo>
                  <a:lnTo>
                    <a:pt x="7293633" y="31748"/>
                  </a:lnTo>
                  <a:lnTo>
                    <a:pt x="7296239" y="35648"/>
                  </a:lnTo>
                  <a:lnTo>
                    <a:pt x="7304300" y="57500"/>
                  </a:lnTo>
                  <a:lnTo>
                    <a:pt x="7305216" y="62101"/>
                  </a:lnTo>
                  <a:lnTo>
                    <a:pt x="7305674" y="66746"/>
                  </a:lnTo>
                  <a:lnTo>
                    <a:pt x="7305674" y="71437"/>
                  </a:lnTo>
                  <a:lnTo>
                    <a:pt x="7305674" y="1614487"/>
                  </a:lnTo>
                  <a:lnTo>
                    <a:pt x="7305674" y="1619177"/>
                  </a:lnTo>
                  <a:lnTo>
                    <a:pt x="7305216" y="1623823"/>
                  </a:lnTo>
                  <a:lnTo>
                    <a:pt x="7304300" y="1628423"/>
                  </a:lnTo>
                  <a:lnTo>
                    <a:pt x="7303385" y="1633024"/>
                  </a:lnTo>
                  <a:lnTo>
                    <a:pt x="7281433" y="1668317"/>
                  </a:lnTo>
                  <a:lnTo>
                    <a:pt x="7243573" y="1685466"/>
                  </a:lnTo>
                  <a:lnTo>
                    <a:pt x="7234237" y="1685924"/>
                  </a:lnTo>
                  <a:lnTo>
                    <a:pt x="71437" y="1685924"/>
                  </a:lnTo>
                  <a:lnTo>
                    <a:pt x="31749" y="1673884"/>
                  </a:lnTo>
                  <a:lnTo>
                    <a:pt x="20923" y="1665000"/>
                  </a:lnTo>
                  <a:lnTo>
                    <a:pt x="17606" y="1661683"/>
                  </a:lnTo>
                  <a:lnTo>
                    <a:pt x="457" y="1623823"/>
                  </a:lnTo>
                  <a:lnTo>
                    <a:pt x="0" y="1619177"/>
                  </a:lnTo>
                  <a:lnTo>
                    <a:pt x="0" y="1614487"/>
                  </a:lnTo>
                  <a:close/>
                </a:path>
              </a:pathLst>
            </a:custGeom>
            <a:noFill/>
            <a:ln cap="flat" cmpd="sng" w="9525">
              <a:solidFill>
                <a:srgbClr val="DFE7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grpSp>
        <p:nvGrpSpPr>
          <p:cNvPr id="223" name="Google Shape;223;p25"/>
          <p:cNvGrpSpPr/>
          <p:nvPr/>
        </p:nvGrpSpPr>
        <p:grpSpPr>
          <a:xfrm>
            <a:off x="2729369" y="1220071"/>
            <a:ext cx="3685260" cy="343044"/>
            <a:chOff x="3195636" y="1795462"/>
            <a:chExt cx="4314825" cy="504825"/>
          </a:xfrm>
        </p:grpSpPr>
        <p:sp>
          <p:nvSpPr>
            <p:cNvPr id="224" name="Google Shape;224;p25"/>
            <p:cNvSpPr/>
            <p:nvPr/>
          </p:nvSpPr>
          <p:spPr>
            <a:xfrm>
              <a:off x="3195636" y="1795462"/>
              <a:ext cx="4314825" cy="504825"/>
            </a:xfrm>
            <a:custGeom>
              <a:rect b="b" l="l" r="r" t="t"/>
              <a:pathLst>
                <a:path extrusionOk="0" h="504825" w="4314825">
                  <a:moveTo>
                    <a:pt x="4248077" y="504824"/>
                  </a:moveTo>
                  <a:lnTo>
                    <a:pt x="66747" y="504824"/>
                  </a:lnTo>
                  <a:lnTo>
                    <a:pt x="62101" y="504367"/>
                  </a:lnTo>
                  <a:lnTo>
                    <a:pt x="24240" y="487217"/>
                  </a:lnTo>
                  <a:lnTo>
                    <a:pt x="2287" y="451924"/>
                  </a:lnTo>
                  <a:lnTo>
                    <a:pt x="0" y="438077"/>
                  </a:lnTo>
                  <a:lnTo>
                    <a:pt x="0" y="4333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4248077" y="0"/>
                  </a:lnTo>
                  <a:lnTo>
                    <a:pt x="4286975" y="14644"/>
                  </a:lnTo>
                  <a:lnTo>
                    <a:pt x="4311181" y="48432"/>
                  </a:lnTo>
                  <a:lnTo>
                    <a:pt x="4314824" y="66746"/>
                  </a:lnTo>
                  <a:lnTo>
                    <a:pt x="4314824" y="438077"/>
                  </a:lnTo>
                  <a:lnTo>
                    <a:pt x="4300178" y="476975"/>
                  </a:lnTo>
                  <a:lnTo>
                    <a:pt x="4266390" y="501181"/>
                  </a:lnTo>
                  <a:lnTo>
                    <a:pt x="4252723" y="504367"/>
                  </a:lnTo>
                  <a:lnTo>
                    <a:pt x="4248077" y="504824"/>
                  </a:lnTo>
                  <a:close/>
                </a:path>
              </a:pathLst>
            </a:custGeom>
            <a:solidFill>
              <a:srgbClr val="EEF5F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25" name="Google Shape;225;p25"/>
            <p:cNvSpPr/>
            <p:nvPr/>
          </p:nvSpPr>
          <p:spPr>
            <a:xfrm>
              <a:off x="3195636" y="1795462"/>
              <a:ext cx="4314825" cy="504825"/>
            </a:xfrm>
            <a:custGeom>
              <a:rect b="b" l="l" r="r" t="t"/>
              <a:pathLst>
                <a:path extrusionOk="0" h="504825" w="4314825">
                  <a:moveTo>
                    <a:pt x="0" y="4333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71437" y="0"/>
                  </a:lnTo>
                  <a:lnTo>
                    <a:pt x="4243387" y="0"/>
                  </a:lnTo>
                  <a:lnTo>
                    <a:pt x="4283075" y="12038"/>
                  </a:lnTo>
                  <a:lnTo>
                    <a:pt x="4293901" y="20923"/>
                  </a:lnTo>
                  <a:lnTo>
                    <a:pt x="4297217" y="24240"/>
                  </a:lnTo>
                  <a:lnTo>
                    <a:pt x="4300178" y="27848"/>
                  </a:lnTo>
                  <a:lnTo>
                    <a:pt x="4302784" y="31748"/>
                  </a:lnTo>
                  <a:lnTo>
                    <a:pt x="4305390" y="35648"/>
                  </a:lnTo>
                  <a:lnTo>
                    <a:pt x="4313451" y="57500"/>
                  </a:lnTo>
                  <a:lnTo>
                    <a:pt x="4314366" y="62101"/>
                  </a:lnTo>
                  <a:lnTo>
                    <a:pt x="4314824" y="66746"/>
                  </a:lnTo>
                  <a:lnTo>
                    <a:pt x="4314824" y="71437"/>
                  </a:lnTo>
                  <a:lnTo>
                    <a:pt x="4314824" y="433387"/>
                  </a:lnTo>
                  <a:lnTo>
                    <a:pt x="4314824" y="438078"/>
                  </a:lnTo>
                  <a:lnTo>
                    <a:pt x="4314366" y="442723"/>
                  </a:lnTo>
                  <a:lnTo>
                    <a:pt x="4313451" y="447324"/>
                  </a:lnTo>
                  <a:lnTo>
                    <a:pt x="4312536" y="451924"/>
                  </a:lnTo>
                  <a:lnTo>
                    <a:pt x="4302784" y="473075"/>
                  </a:lnTo>
                  <a:lnTo>
                    <a:pt x="4300178" y="476975"/>
                  </a:lnTo>
                  <a:lnTo>
                    <a:pt x="4297217" y="480584"/>
                  </a:lnTo>
                  <a:lnTo>
                    <a:pt x="4293901" y="483901"/>
                  </a:lnTo>
                  <a:lnTo>
                    <a:pt x="4290584" y="487218"/>
                  </a:lnTo>
                  <a:lnTo>
                    <a:pt x="4252723" y="504367"/>
                  </a:lnTo>
                  <a:lnTo>
                    <a:pt x="4243387" y="504824"/>
                  </a:lnTo>
                  <a:lnTo>
                    <a:pt x="71437" y="504824"/>
                  </a:lnTo>
                  <a:lnTo>
                    <a:pt x="31748" y="492785"/>
                  </a:lnTo>
                  <a:lnTo>
                    <a:pt x="20923" y="483901"/>
                  </a:lnTo>
                  <a:lnTo>
                    <a:pt x="17606" y="480584"/>
                  </a:lnTo>
                  <a:lnTo>
                    <a:pt x="457" y="442723"/>
                  </a:lnTo>
                  <a:lnTo>
                    <a:pt x="0" y="438078"/>
                  </a:lnTo>
                  <a:lnTo>
                    <a:pt x="0" y="433387"/>
                  </a:lnTo>
                  <a:close/>
                </a:path>
              </a:pathLst>
            </a:custGeom>
            <a:noFill/>
            <a:ln cap="flat" cmpd="sng" w="9525">
              <a:solidFill>
                <a:srgbClr val="BDD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26" name="Google Shape;226;p25"/>
          <p:cNvSpPr txBox="1"/>
          <p:nvPr/>
        </p:nvSpPr>
        <p:spPr>
          <a:xfrm>
            <a:off x="2980884" y="1298820"/>
            <a:ext cx="3182502" cy="172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3BB8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Status: Just Beginning (Weeks 1-2)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27" name="Google Shape;227;p25"/>
          <p:cNvGrpSpPr/>
          <p:nvPr/>
        </p:nvGrpSpPr>
        <p:grpSpPr>
          <a:xfrm>
            <a:off x="226474" y="1752250"/>
            <a:ext cx="1392752" cy="1000652"/>
            <a:chOff x="265163" y="2578620"/>
            <a:chExt cx="1630680" cy="1472565"/>
          </a:xfrm>
        </p:grpSpPr>
        <p:sp>
          <p:nvSpPr>
            <p:cNvPr id="228" name="Google Shape;228;p25"/>
            <p:cNvSpPr/>
            <p:nvPr/>
          </p:nvSpPr>
          <p:spPr>
            <a:xfrm>
              <a:off x="265163" y="2578620"/>
              <a:ext cx="1630680" cy="1472565"/>
            </a:xfrm>
            <a:custGeom>
              <a:rect b="b" l="l" r="r" t="t"/>
              <a:pathLst>
                <a:path extrusionOk="0" h="1472564" w="1630680">
                  <a:moveTo>
                    <a:pt x="1630680" y="0"/>
                  </a:moveTo>
                  <a:lnTo>
                    <a:pt x="1582674" y="0"/>
                  </a:lnTo>
                  <a:lnTo>
                    <a:pt x="1582674" y="107442"/>
                  </a:lnTo>
                  <a:lnTo>
                    <a:pt x="1582674" y="1345692"/>
                  </a:lnTo>
                  <a:lnTo>
                    <a:pt x="1571459" y="1382737"/>
                  </a:lnTo>
                  <a:lnTo>
                    <a:pt x="1541526" y="1407287"/>
                  </a:lnTo>
                  <a:lnTo>
                    <a:pt x="1515999" y="1412367"/>
                  </a:lnTo>
                  <a:lnTo>
                    <a:pt x="115824" y="1412367"/>
                  </a:lnTo>
                  <a:lnTo>
                    <a:pt x="78778" y="1401140"/>
                  </a:lnTo>
                  <a:lnTo>
                    <a:pt x="54229" y="1371206"/>
                  </a:lnTo>
                  <a:lnTo>
                    <a:pt x="49149" y="1345692"/>
                  </a:lnTo>
                  <a:lnTo>
                    <a:pt x="49149" y="107442"/>
                  </a:lnTo>
                  <a:lnTo>
                    <a:pt x="60375" y="70383"/>
                  </a:lnTo>
                  <a:lnTo>
                    <a:pt x="90309" y="45834"/>
                  </a:lnTo>
                  <a:lnTo>
                    <a:pt x="115824" y="40767"/>
                  </a:lnTo>
                  <a:lnTo>
                    <a:pt x="1515999" y="40767"/>
                  </a:lnTo>
                  <a:lnTo>
                    <a:pt x="1553057" y="51981"/>
                  </a:lnTo>
                  <a:lnTo>
                    <a:pt x="1577606" y="81915"/>
                  </a:lnTo>
                  <a:lnTo>
                    <a:pt x="1582674" y="107442"/>
                  </a:lnTo>
                  <a:lnTo>
                    <a:pt x="1582674" y="0"/>
                  </a:lnTo>
                  <a:lnTo>
                    <a:pt x="0" y="0"/>
                  </a:lnTo>
                  <a:lnTo>
                    <a:pt x="0" y="1472184"/>
                  </a:lnTo>
                  <a:lnTo>
                    <a:pt x="1630680" y="1472184"/>
                  </a:lnTo>
                  <a:lnTo>
                    <a:pt x="1630680" y="1412367"/>
                  </a:lnTo>
                  <a:lnTo>
                    <a:pt x="1630680" y="40767"/>
                  </a:lnTo>
                  <a:lnTo>
                    <a:pt x="1630680" y="0"/>
                  </a:lnTo>
                  <a:close/>
                </a:path>
              </a:pathLst>
            </a:custGeom>
            <a:solidFill>
              <a:srgbClr val="000000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29" name="Google Shape;229;p25"/>
            <p:cNvSpPr/>
            <p:nvPr/>
          </p:nvSpPr>
          <p:spPr>
            <a:xfrm>
              <a:off x="314324" y="2619374"/>
              <a:ext cx="1533525" cy="1371600"/>
            </a:xfrm>
            <a:custGeom>
              <a:rect b="b" l="l" r="r" t="t"/>
              <a:pathLst>
                <a:path extrusionOk="0" h="1371600" w="1533525">
                  <a:moveTo>
                    <a:pt x="1471227" y="1371599"/>
                  </a:moveTo>
                  <a:lnTo>
                    <a:pt x="62297" y="1371599"/>
                  </a:lnTo>
                  <a:lnTo>
                    <a:pt x="57961" y="1371172"/>
                  </a:lnTo>
                  <a:lnTo>
                    <a:pt x="22624" y="1355166"/>
                  </a:lnTo>
                  <a:lnTo>
                    <a:pt x="2135" y="1322225"/>
                  </a:lnTo>
                  <a:lnTo>
                    <a:pt x="0" y="1309302"/>
                  </a:lnTo>
                  <a:lnTo>
                    <a:pt x="0" y="1304924"/>
                  </a:lnTo>
                  <a:lnTo>
                    <a:pt x="0" y="62297"/>
                  </a:lnTo>
                  <a:lnTo>
                    <a:pt x="13669" y="25992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1471227" y="0"/>
                  </a:lnTo>
                  <a:lnTo>
                    <a:pt x="1507532" y="13668"/>
                  </a:lnTo>
                  <a:lnTo>
                    <a:pt x="1530124" y="45204"/>
                  </a:lnTo>
                  <a:lnTo>
                    <a:pt x="1533524" y="62297"/>
                  </a:lnTo>
                  <a:lnTo>
                    <a:pt x="1533524" y="1309302"/>
                  </a:lnTo>
                  <a:lnTo>
                    <a:pt x="1519855" y="1345607"/>
                  </a:lnTo>
                  <a:lnTo>
                    <a:pt x="1488320" y="1368198"/>
                  </a:lnTo>
                  <a:lnTo>
                    <a:pt x="1475563" y="1371172"/>
                  </a:lnTo>
                  <a:lnTo>
                    <a:pt x="1471227" y="1371599"/>
                  </a:lnTo>
                  <a:close/>
                </a:path>
              </a:pathLst>
            </a:custGeom>
            <a:solidFill>
              <a:srgbClr val="DAEAF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30" name="Google Shape;230;p25"/>
            <p:cNvSpPr/>
            <p:nvPr/>
          </p:nvSpPr>
          <p:spPr>
            <a:xfrm>
              <a:off x="314324" y="2619374"/>
              <a:ext cx="1533525" cy="1371600"/>
            </a:xfrm>
            <a:custGeom>
              <a:rect b="b" l="l" r="r" t="t"/>
              <a:pathLst>
                <a:path extrusionOk="0" h="1371600" w="1533525">
                  <a:moveTo>
                    <a:pt x="0" y="1304924"/>
                  </a:moveTo>
                  <a:lnTo>
                    <a:pt x="0" y="66674"/>
                  </a:lnTo>
                  <a:lnTo>
                    <a:pt x="0" y="62297"/>
                  </a:lnTo>
                  <a:lnTo>
                    <a:pt x="427" y="57960"/>
                  </a:lnTo>
                  <a:lnTo>
                    <a:pt x="16433" y="22624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5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4" y="0"/>
                  </a:lnTo>
                  <a:lnTo>
                    <a:pt x="1466849" y="0"/>
                  </a:lnTo>
                  <a:lnTo>
                    <a:pt x="1471227" y="0"/>
                  </a:lnTo>
                  <a:lnTo>
                    <a:pt x="1475563" y="427"/>
                  </a:lnTo>
                  <a:lnTo>
                    <a:pt x="1479857" y="1281"/>
                  </a:lnTo>
                  <a:lnTo>
                    <a:pt x="1484151" y="2135"/>
                  </a:lnTo>
                  <a:lnTo>
                    <a:pt x="1488320" y="3399"/>
                  </a:lnTo>
                  <a:lnTo>
                    <a:pt x="1492365" y="5075"/>
                  </a:lnTo>
                  <a:lnTo>
                    <a:pt x="1496409" y="6750"/>
                  </a:lnTo>
                  <a:lnTo>
                    <a:pt x="1500252" y="8804"/>
                  </a:lnTo>
                  <a:lnTo>
                    <a:pt x="1503892" y="11236"/>
                  </a:lnTo>
                  <a:lnTo>
                    <a:pt x="1507532" y="13668"/>
                  </a:lnTo>
                  <a:lnTo>
                    <a:pt x="1528449" y="41159"/>
                  </a:lnTo>
                  <a:lnTo>
                    <a:pt x="1530124" y="45204"/>
                  </a:lnTo>
                  <a:lnTo>
                    <a:pt x="1531389" y="49373"/>
                  </a:lnTo>
                  <a:lnTo>
                    <a:pt x="1532243" y="53667"/>
                  </a:lnTo>
                  <a:lnTo>
                    <a:pt x="1533097" y="57960"/>
                  </a:lnTo>
                  <a:lnTo>
                    <a:pt x="1533524" y="62297"/>
                  </a:lnTo>
                  <a:lnTo>
                    <a:pt x="1533524" y="66674"/>
                  </a:lnTo>
                  <a:lnTo>
                    <a:pt x="1533524" y="1304924"/>
                  </a:lnTo>
                  <a:lnTo>
                    <a:pt x="1533524" y="1309302"/>
                  </a:lnTo>
                  <a:lnTo>
                    <a:pt x="1533097" y="1313638"/>
                  </a:lnTo>
                  <a:lnTo>
                    <a:pt x="1532243" y="1317931"/>
                  </a:lnTo>
                  <a:lnTo>
                    <a:pt x="1531389" y="1322225"/>
                  </a:lnTo>
                  <a:lnTo>
                    <a:pt x="1530124" y="1326395"/>
                  </a:lnTo>
                  <a:lnTo>
                    <a:pt x="1528449" y="1330439"/>
                  </a:lnTo>
                  <a:lnTo>
                    <a:pt x="1526773" y="1334484"/>
                  </a:lnTo>
                  <a:lnTo>
                    <a:pt x="1524720" y="1338326"/>
                  </a:lnTo>
                  <a:lnTo>
                    <a:pt x="1522287" y="1341966"/>
                  </a:lnTo>
                  <a:lnTo>
                    <a:pt x="1519855" y="1345607"/>
                  </a:lnTo>
                  <a:lnTo>
                    <a:pt x="1503892" y="1360362"/>
                  </a:lnTo>
                  <a:lnTo>
                    <a:pt x="1500252" y="1362794"/>
                  </a:lnTo>
                  <a:lnTo>
                    <a:pt x="1496409" y="1364848"/>
                  </a:lnTo>
                  <a:lnTo>
                    <a:pt x="1492365" y="1366523"/>
                  </a:lnTo>
                  <a:lnTo>
                    <a:pt x="1488320" y="1368198"/>
                  </a:lnTo>
                  <a:lnTo>
                    <a:pt x="1466849" y="1371599"/>
                  </a:lnTo>
                  <a:lnTo>
                    <a:pt x="66674" y="1371599"/>
                  </a:lnTo>
                  <a:lnTo>
                    <a:pt x="62297" y="1371599"/>
                  </a:lnTo>
                  <a:lnTo>
                    <a:pt x="57961" y="1371172"/>
                  </a:lnTo>
                  <a:lnTo>
                    <a:pt x="53667" y="1370318"/>
                  </a:lnTo>
                  <a:lnTo>
                    <a:pt x="49373" y="1369463"/>
                  </a:lnTo>
                  <a:lnTo>
                    <a:pt x="45204" y="1368198"/>
                  </a:lnTo>
                  <a:lnTo>
                    <a:pt x="41159" y="1366523"/>
                  </a:lnTo>
                  <a:lnTo>
                    <a:pt x="37114" y="1364848"/>
                  </a:lnTo>
                  <a:lnTo>
                    <a:pt x="33272" y="1362794"/>
                  </a:lnTo>
                  <a:lnTo>
                    <a:pt x="29632" y="1360362"/>
                  </a:lnTo>
                  <a:lnTo>
                    <a:pt x="25992" y="1357930"/>
                  </a:lnTo>
                  <a:lnTo>
                    <a:pt x="11236" y="1341966"/>
                  </a:lnTo>
                  <a:lnTo>
                    <a:pt x="8804" y="1338326"/>
                  </a:lnTo>
                  <a:lnTo>
                    <a:pt x="0" y="1309302"/>
                  </a:lnTo>
                  <a:lnTo>
                    <a:pt x="0" y="1304924"/>
                  </a:lnTo>
                  <a:close/>
                </a:path>
              </a:pathLst>
            </a:custGeom>
            <a:noFill/>
            <a:ln cap="flat" cmpd="sng" w="19025">
              <a:solidFill>
                <a:srgbClr val="8DC5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31" name="Google Shape;231;p25"/>
          <p:cNvSpPr txBox="1"/>
          <p:nvPr/>
        </p:nvSpPr>
        <p:spPr>
          <a:xfrm>
            <a:off x="414091" y="1900765"/>
            <a:ext cx="1021243" cy="55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3BB8"/>
                </a:solidFill>
                <a:latin typeface="Trebuchet MS"/>
                <a:ea typeface="Trebuchet MS"/>
                <a:cs typeface="Trebuchet MS"/>
                <a:sym typeface="Trebuchet MS"/>
              </a:rPr>
              <a:t>Week 1-2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latin typeface="Verdana"/>
                <a:ea typeface="Verdana"/>
                <a:cs typeface="Verdana"/>
                <a:sym typeface="Verdana"/>
              </a:rPr>
              <a:t>Project Planning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155CFB"/>
                </a:solidFill>
                <a:latin typeface="Trebuchet MS"/>
                <a:ea typeface="Trebuchet MS"/>
                <a:cs typeface="Trebuchet MS"/>
                <a:sym typeface="Trebuchet MS"/>
              </a:rPr>
              <a:t>In Progress</a:t>
            </a:r>
            <a:endParaRPr sz="8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32" name="Google Shape;232;p25"/>
          <p:cNvGrpSpPr/>
          <p:nvPr/>
        </p:nvGrpSpPr>
        <p:grpSpPr>
          <a:xfrm>
            <a:off x="1720601" y="1776708"/>
            <a:ext cx="1326043" cy="938516"/>
            <a:chOff x="2014537" y="2614612"/>
            <a:chExt cx="1552575" cy="1381125"/>
          </a:xfrm>
        </p:grpSpPr>
        <p:sp>
          <p:nvSpPr>
            <p:cNvPr id="233" name="Google Shape;233;p25"/>
            <p:cNvSpPr/>
            <p:nvPr/>
          </p:nvSpPr>
          <p:spPr>
            <a:xfrm>
              <a:off x="2014537" y="2614612"/>
              <a:ext cx="1552575" cy="1381125"/>
            </a:xfrm>
            <a:custGeom>
              <a:rect b="b" l="l" r="r" t="t"/>
              <a:pathLst>
                <a:path extrusionOk="0" h="1381125" w="1552575">
                  <a:moveTo>
                    <a:pt x="1485828" y="1381124"/>
                  </a:moveTo>
                  <a:lnTo>
                    <a:pt x="66746" y="1381124"/>
                  </a:lnTo>
                  <a:lnTo>
                    <a:pt x="62101" y="1380667"/>
                  </a:lnTo>
                  <a:lnTo>
                    <a:pt x="24240" y="1363517"/>
                  </a:lnTo>
                  <a:lnTo>
                    <a:pt x="2287" y="1328224"/>
                  </a:lnTo>
                  <a:lnTo>
                    <a:pt x="0" y="1314377"/>
                  </a:lnTo>
                  <a:lnTo>
                    <a:pt x="0" y="13096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485828" y="0"/>
                  </a:lnTo>
                  <a:lnTo>
                    <a:pt x="1524725" y="14645"/>
                  </a:lnTo>
                  <a:lnTo>
                    <a:pt x="1548931" y="48433"/>
                  </a:lnTo>
                  <a:lnTo>
                    <a:pt x="1552574" y="66746"/>
                  </a:lnTo>
                  <a:lnTo>
                    <a:pt x="1552574" y="1314377"/>
                  </a:lnTo>
                  <a:lnTo>
                    <a:pt x="1537928" y="1353275"/>
                  </a:lnTo>
                  <a:lnTo>
                    <a:pt x="1504141" y="1377481"/>
                  </a:lnTo>
                  <a:lnTo>
                    <a:pt x="1490473" y="1380667"/>
                  </a:lnTo>
                  <a:lnTo>
                    <a:pt x="1485828" y="1381124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34" name="Google Shape;234;p25"/>
            <p:cNvSpPr/>
            <p:nvPr/>
          </p:nvSpPr>
          <p:spPr>
            <a:xfrm>
              <a:off x="2014537" y="2614612"/>
              <a:ext cx="1552575" cy="1381125"/>
            </a:xfrm>
            <a:custGeom>
              <a:rect b="b" l="l" r="r" t="t"/>
              <a:pathLst>
                <a:path extrusionOk="0" h="1381125" w="1552575">
                  <a:moveTo>
                    <a:pt x="0" y="1309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481137" y="0"/>
                  </a:lnTo>
                  <a:lnTo>
                    <a:pt x="1485828" y="0"/>
                  </a:lnTo>
                  <a:lnTo>
                    <a:pt x="1490473" y="457"/>
                  </a:lnTo>
                  <a:lnTo>
                    <a:pt x="1495074" y="1372"/>
                  </a:lnTo>
                  <a:lnTo>
                    <a:pt x="1499674" y="2287"/>
                  </a:lnTo>
                  <a:lnTo>
                    <a:pt x="1534967" y="24240"/>
                  </a:lnTo>
                  <a:lnTo>
                    <a:pt x="1552117" y="62101"/>
                  </a:lnTo>
                  <a:lnTo>
                    <a:pt x="1552574" y="66746"/>
                  </a:lnTo>
                  <a:lnTo>
                    <a:pt x="1552574" y="71437"/>
                  </a:lnTo>
                  <a:lnTo>
                    <a:pt x="1552574" y="1309687"/>
                  </a:lnTo>
                  <a:lnTo>
                    <a:pt x="1552574" y="1314377"/>
                  </a:lnTo>
                  <a:lnTo>
                    <a:pt x="1552117" y="1319023"/>
                  </a:lnTo>
                  <a:lnTo>
                    <a:pt x="1551202" y="1323623"/>
                  </a:lnTo>
                  <a:lnTo>
                    <a:pt x="1550286" y="1328224"/>
                  </a:lnTo>
                  <a:lnTo>
                    <a:pt x="1540534" y="1349375"/>
                  </a:lnTo>
                  <a:lnTo>
                    <a:pt x="1537928" y="1353275"/>
                  </a:lnTo>
                  <a:lnTo>
                    <a:pt x="1504141" y="1377481"/>
                  </a:lnTo>
                  <a:lnTo>
                    <a:pt x="1481137" y="1381124"/>
                  </a:lnTo>
                  <a:lnTo>
                    <a:pt x="71437" y="1381124"/>
                  </a:lnTo>
                  <a:lnTo>
                    <a:pt x="31748" y="1369084"/>
                  </a:lnTo>
                  <a:lnTo>
                    <a:pt x="27848" y="1366478"/>
                  </a:lnTo>
                  <a:lnTo>
                    <a:pt x="3642" y="1332691"/>
                  </a:lnTo>
                  <a:lnTo>
                    <a:pt x="1372" y="1323623"/>
                  </a:lnTo>
                  <a:lnTo>
                    <a:pt x="457" y="1319023"/>
                  </a:lnTo>
                  <a:lnTo>
                    <a:pt x="0" y="1314377"/>
                  </a:lnTo>
                  <a:lnTo>
                    <a:pt x="0" y="1309687"/>
                  </a:lnTo>
                  <a:close/>
                </a:path>
              </a:pathLst>
            </a:custGeom>
            <a:noFill/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35" name="Google Shape;235;p25"/>
          <p:cNvSpPr txBox="1"/>
          <p:nvPr/>
        </p:nvSpPr>
        <p:spPr>
          <a:xfrm>
            <a:off x="1909829" y="1894292"/>
            <a:ext cx="947483" cy="55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Week 2-3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latin typeface="Verdana"/>
                <a:ea typeface="Verdana"/>
                <a:cs typeface="Verdana"/>
                <a:sym typeface="Verdana"/>
              </a:rPr>
              <a:t>Data Collection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rPr>
              <a:t>Not Started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36" name="Google Shape;236;p25"/>
          <p:cNvGrpSpPr/>
          <p:nvPr/>
        </p:nvGrpSpPr>
        <p:grpSpPr>
          <a:xfrm>
            <a:off x="3184942" y="1776708"/>
            <a:ext cx="1317907" cy="938516"/>
            <a:chOff x="3729036" y="2614612"/>
            <a:chExt cx="1543050" cy="1381125"/>
          </a:xfrm>
        </p:grpSpPr>
        <p:sp>
          <p:nvSpPr>
            <p:cNvPr id="237" name="Google Shape;237;p25"/>
            <p:cNvSpPr/>
            <p:nvPr/>
          </p:nvSpPr>
          <p:spPr>
            <a:xfrm>
              <a:off x="3729036" y="2614612"/>
              <a:ext cx="1543050" cy="1381125"/>
            </a:xfrm>
            <a:custGeom>
              <a:rect b="b" l="l" r="r" t="t"/>
              <a:pathLst>
                <a:path extrusionOk="0" h="1381125" w="1543050">
                  <a:moveTo>
                    <a:pt x="1476303" y="1381124"/>
                  </a:moveTo>
                  <a:lnTo>
                    <a:pt x="66747" y="1381124"/>
                  </a:lnTo>
                  <a:lnTo>
                    <a:pt x="62101" y="1380667"/>
                  </a:lnTo>
                  <a:lnTo>
                    <a:pt x="24240" y="1363517"/>
                  </a:lnTo>
                  <a:lnTo>
                    <a:pt x="2287" y="1328224"/>
                  </a:lnTo>
                  <a:lnTo>
                    <a:pt x="0" y="1314377"/>
                  </a:lnTo>
                  <a:lnTo>
                    <a:pt x="0" y="13096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476303" y="0"/>
                  </a:lnTo>
                  <a:lnTo>
                    <a:pt x="1515200" y="14645"/>
                  </a:lnTo>
                  <a:lnTo>
                    <a:pt x="1539406" y="48433"/>
                  </a:lnTo>
                  <a:lnTo>
                    <a:pt x="1543050" y="66746"/>
                  </a:lnTo>
                  <a:lnTo>
                    <a:pt x="1543050" y="1314377"/>
                  </a:lnTo>
                  <a:lnTo>
                    <a:pt x="1528403" y="1353275"/>
                  </a:lnTo>
                  <a:lnTo>
                    <a:pt x="1494616" y="1377481"/>
                  </a:lnTo>
                  <a:lnTo>
                    <a:pt x="1480948" y="1380667"/>
                  </a:lnTo>
                  <a:lnTo>
                    <a:pt x="1476303" y="1381124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38" name="Google Shape;238;p25"/>
            <p:cNvSpPr/>
            <p:nvPr/>
          </p:nvSpPr>
          <p:spPr>
            <a:xfrm>
              <a:off x="3729036" y="2614612"/>
              <a:ext cx="1543050" cy="1381125"/>
            </a:xfrm>
            <a:custGeom>
              <a:rect b="b" l="l" r="r" t="t"/>
              <a:pathLst>
                <a:path extrusionOk="0" h="1381125" w="1543050">
                  <a:moveTo>
                    <a:pt x="0" y="1309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7" y="0"/>
                  </a:lnTo>
                  <a:lnTo>
                    <a:pt x="1471612" y="0"/>
                  </a:lnTo>
                  <a:lnTo>
                    <a:pt x="1476303" y="0"/>
                  </a:lnTo>
                  <a:lnTo>
                    <a:pt x="1480948" y="457"/>
                  </a:lnTo>
                  <a:lnTo>
                    <a:pt x="1485548" y="1372"/>
                  </a:lnTo>
                  <a:lnTo>
                    <a:pt x="1490149" y="2287"/>
                  </a:lnTo>
                  <a:lnTo>
                    <a:pt x="1522126" y="20923"/>
                  </a:lnTo>
                  <a:lnTo>
                    <a:pt x="1525443" y="24240"/>
                  </a:lnTo>
                  <a:lnTo>
                    <a:pt x="1541676" y="57500"/>
                  </a:lnTo>
                  <a:lnTo>
                    <a:pt x="1542592" y="62101"/>
                  </a:lnTo>
                  <a:lnTo>
                    <a:pt x="1543050" y="66746"/>
                  </a:lnTo>
                  <a:lnTo>
                    <a:pt x="1543050" y="71437"/>
                  </a:lnTo>
                  <a:lnTo>
                    <a:pt x="1543050" y="1309687"/>
                  </a:lnTo>
                  <a:lnTo>
                    <a:pt x="1543050" y="1314377"/>
                  </a:lnTo>
                  <a:lnTo>
                    <a:pt x="1542592" y="1319023"/>
                  </a:lnTo>
                  <a:lnTo>
                    <a:pt x="1541676" y="1323623"/>
                  </a:lnTo>
                  <a:lnTo>
                    <a:pt x="1540761" y="1328224"/>
                  </a:lnTo>
                  <a:lnTo>
                    <a:pt x="1518809" y="1363517"/>
                  </a:lnTo>
                  <a:lnTo>
                    <a:pt x="1480948" y="1380667"/>
                  </a:lnTo>
                  <a:lnTo>
                    <a:pt x="1471612" y="1381124"/>
                  </a:lnTo>
                  <a:lnTo>
                    <a:pt x="71437" y="1381124"/>
                  </a:lnTo>
                  <a:lnTo>
                    <a:pt x="31748" y="1369084"/>
                  </a:lnTo>
                  <a:lnTo>
                    <a:pt x="27848" y="1366478"/>
                  </a:lnTo>
                  <a:lnTo>
                    <a:pt x="3642" y="1332691"/>
                  </a:lnTo>
                  <a:lnTo>
                    <a:pt x="1372" y="1323623"/>
                  </a:lnTo>
                  <a:lnTo>
                    <a:pt x="457" y="1319023"/>
                  </a:lnTo>
                  <a:lnTo>
                    <a:pt x="0" y="1314377"/>
                  </a:lnTo>
                  <a:lnTo>
                    <a:pt x="0" y="1309687"/>
                  </a:lnTo>
                  <a:close/>
                </a:path>
              </a:pathLst>
            </a:custGeom>
            <a:noFill/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39" name="Google Shape;239;p25"/>
          <p:cNvSpPr txBox="1"/>
          <p:nvPr/>
        </p:nvSpPr>
        <p:spPr>
          <a:xfrm>
            <a:off x="3382075" y="1894300"/>
            <a:ext cx="9474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63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Week 4-5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127000" lvl="0" marL="12700" marR="0" rtl="0"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latin typeface="Verdana"/>
                <a:ea typeface="Verdana"/>
                <a:cs typeface="Verdana"/>
                <a:sym typeface="Verdana"/>
              </a:rPr>
              <a:t>Feature Engineering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635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rPr>
              <a:t>Not Started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40" name="Google Shape;240;p25"/>
          <p:cNvGrpSpPr/>
          <p:nvPr/>
        </p:nvGrpSpPr>
        <p:grpSpPr>
          <a:xfrm>
            <a:off x="4641148" y="1776708"/>
            <a:ext cx="1317907" cy="938516"/>
            <a:chOff x="5434011" y="2614612"/>
            <a:chExt cx="1543050" cy="1381125"/>
          </a:xfrm>
        </p:grpSpPr>
        <p:sp>
          <p:nvSpPr>
            <p:cNvPr id="241" name="Google Shape;241;p25"/>
            <p:cNvSpPr/>
            <p:nvPr/>
          </p:nvSpPr>
          <p:spPr>
            <a:xfrm>
              <a:off x="5434011" y="2614612"/>
              <a:ext cx="1543050" cy="1381125"/>
            </a:xfrm>
            <a:custGeom>
              <a:rect b="b" l="l" r="r" t="t"/>
              <a:pathLst>
                <a:path extrusionOk="0" h="1381125" w="1543050">
                  <a:moveTo>
                    <a:pt x="1476303" y="1381124"/>
                  </a:moveTo>
                  <a:lnTo>
                    <a:pt x="66747" y="1381124"/>
                  </a:lnTo>
                  <a:lnTo>
                    <a:pt x="62101" y="1380667"/>
                  </a:lnTo>
                  <a:lnTo>
                    <a:pt x="24240" y="1363517"/>
                  </a:lnTo>
                  <a:lnTo>
                    <a:pt x="2288" y="1328224"/>
                  </a:lnTo>
                  <a:lnTo>
                    <a:pt x="0" y="1314377"/>
                  </a:lnTo>
                  <a:lnTo>
                    <a:pt x="0" y="13096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476303" y="0"/>
                  </a:lnTo>
                  <a:lnTo>
                    <a:pt x="1515200" y="14645"/>
                  </a:lnTo>
                  <a:lnTo>
                    <a:pt x="1539405" y="48433"/>
                  </a:lnTo>
                  <a:lnTo>
                    <a:pt x="1543049" y="66746"/>
                  </a:lnTo>
                  <a:lnTo>
                    <a:pt x="1543049" y="1314377"/>
                  </a:lnTo>
                  <a:lnTo>
                    <a:pt x="1528403" y="1353275"/>
                  </a:lnTo>
                  <a:lnTo>
                    <a:pt x="1494616" y="1377481"/>
                  </a:lnTo>
                  <a:lnTo>
                    <a:pt x="1480948" y="1380667"/>
                  </a:lnTo>
                  <a:lnTo>
                    <a:pt x="1476303" y="1381124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42" name="Google Shape;242;p25"/>
            <p:cNvSpPr/>
            <p:nvPr/>
          </p:nvSpPr>
          <p:spPr>
            <a:xfrm>
              <a:off x="5434011" y="2614612"/>
              <a:ext cx="1543050" cy="1381125"/>
            </a:xfrm>
            <a:custGeom>
              <a:rect b="b" l="l" r="r" t="t"/>
              <a:pathLst>
                <a:path extrusionOk="0" h="1381125" w="1543050">
                  <a:moveTo>
                    <a:pt x="0" y="1309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57501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471612" y="0"/>
                  </a:lnTo>
                  <a:lnTo>
                    <a:pt x="1476303" y="0"/>
                  </a:lnTo>
                  <a:lnTo>
                    <a:pt x="1480948" y="457"/>
                  </a:lnTo>
                  <a:lnTo>
                    <a:pt x="1485549" y="1372"/>
                  </a:lnTo>
                  <a:lnTo>
                    <a:pt x="1490149" y="2287"/>
                  </a:lnTo>
                  <a:lnTo>
                    <a:pt x="1494616" y="3642"/>
                  </a:lnTo>
                  <a:lnTo>
                    <a:pt x="1498950" y="5437"/>
                  </a:lnTo>
                  <a:lnTo>
                    <a:pt x="1503284" y="7232"/>
                  </a:lnTo>
                  <a:lnTo>
                    <a:pt x="1522126" y="20923"/>
                  </a:lnTo>
                  <a:lnTo>
                    <a:pt x="1525442" y="24240"/>
                  </a:lnTo>
                  <a:lnTo>
                    <a:pt x="1528403" y="27848"/>
                  </a:lnTo>
                  <a:lnTo>
                    <a:pt x="1531009" y="31748"/>
                  </a:lnTo>
                  <a:lnTo>
                    <a:pt x="1533615" y="35649"/>
                  </a:lnTo>
                  <a:lnTo>
                    <a:pt x="1543050" y="71437"/>
                  </a:lnTo>
                  <a:lnTo>
                    <a:pt x="1543050" y="1309687"/>
                  </a:lnTo>
                  <a:lnTo>
                    <a:pt x="1531009" y="1349375"/>
                  </a:lnTo>
                  <a:lnTo>
                    <a:pt x="1498950" y="1375686"/>
                  </a:lnTo>
                  <a:lnTo>
                    <a:pt x="1471612" y="1381124"/>
                  </a:lnTo>
                  <a:lnTo>
                    <a:pt x="71438" y="1381124"/>
                  </a:lnTo>
                  <a:lnTo>
                    <a:pt x="31749" y="1369084"/>
                  </a:lnTo>
                  <a:lnTo>
                    <a:pt x="5438" y="1337025"/>
                  </a:lnTo>
                  <a:lnTo>
                    <a:pt x="0" y="1314377"/>
                  </a:lnTo>
                  <a:lnTo>
                    <a:pt x="0" y="1309687"/>
                  </a:lnTo>
                  <a:close/>
                </a:path>
              </a:pathLst>
            </a:custGeom>
            <a:noFill/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43" name="Google Shape;243;p25"/>
          <p:cNvSpPr txBox="1"/>
          <p:nvPr/>
        </p:nvSpPr>
        <p:spPr>
          <a:xfrm>
            <a:off x="4769813" y="1894300"/>
            <a:ext cx="1057800" cy="8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Week 5-7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marR="0" rtl="0" algn="ctr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1000">
                <a:latin typeface="Verdana"/>
                <a:ea typeface="Verdana"/>
                <a:cs typeface="Verdana"/>
                <a:sym typeface="Verdana"/>
              </a:rPr>
              <a:t>Model Development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rPr>
              <a:t>Not Started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44" name="Google Shape;244;p25"/>
          <p:cNvGrpSpPr/>
          <p:nvPr/>
        </p:nvGrpSpPr>
        <p:grpSpPr>
          <a:xfrm>
            <a:off x="6097355" y="1776708"/>
            <a:ext cx="1326043" cy="938516"/>
            <a:chOff x="7138986" y="2614612"/>
            <a:chExt cx="1552575" cy="1381125"/>
          </a:xfrm>
        </p:grpSpPr>
        <p:sp>
          <p:nvSpPr>
            <p:cNvPr id="245" name="Google Shape;245;p25"/>
            <p:cNvSpPr/>
            <p:nvPr/>
          </p:nvSpPr>
          <p:spPr>
            <a:xfrm>
              <a:off x="7138986" y="2614612"/>
              <a:ext cx="1552575" cy="1381125"/>
            </a:xfrm>
            <a:custGeom>
              <a:rect b="b" l="l" r="r" t="t"/>
              <a:pathLst>
                <a:path extrusionOk="0" h="1381125" w="1552575">
                  <a:moveTo>
                    <a:pt x="1485827" y="1381124"/>
                  </a:moveTo>
                  <a:lnTo>
                    <a:pt x="66747" y="1381124"/>
                  </a:lnTo>
                  <a:lnTo>
                    <a:pt x="62101" y="1380667"/>
                  </a:lnTo>
                  <a:lnTo>
                    <a:pt x="24240" y="1363517"/>
                  </a:lnTo>
                  <a:lnTo>
                    <a:pt x="2288" y="1328224"/>
                  </a:lnTo>
                  <a:lnTo>
                    <a:pt x="0" y="1314377"/>
                  </a:lnTo>
                  <a:lnTo>
                    <a:pt x="0" y="13096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2" y="3642"/>
                  </a:lnTo>
                  <a:lnTo>
                    <a:pt x="66747" y="0"/>
                  </a:lnTo>
                  <a:lnTo>
                    <a:pt x="1485827" y="0"/>
                  </a:lnTo>
                  <a:lnTo>
                    <a:pt x="1524725" y="14645"/>
                  </a:lnTo>
                  <a:lnTo>
                    <a:pt x="1548931" y="48433"/>
                  </a:lnTo>
                  <a:lnTo>
                    <a:pt x="1552575" y="66746"/>
                  </a:lnTo>
                  <a:lnTo>
                    <a:pt x="1552575" y="1314377"/>
                  </a:lnTo>
                  <a:lnTo>
                    <a:pt x="1537928" y="1353275"/>
                  </a:lnTo>
                  <a:lnTo>
                    <a:pt x="1504140" y="1377481"/>
                  </a:lnTo>
                  <a:lnTo>
                    <a:pt x="1490472" y="1380667"/>
                  </a:lnTo>
                  <a:lnTo>
                    <a:pt x="1485827" y="1381124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7138986" y="2614612"/>
              <a:ext cx="1552575" cy="1381125"/>
            </a:xfrm>
            <a:custGeom>
              <a:rect b="b" l="l" r="r" t="t"/>
              <a:pathLst>
                <a:path extrusionOk="0" h="1381125" w="1552575">
                  <a:moveTo>
                    <a:pt x="0" y="1309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9" y="12039"/>
                  </a:lnTo>
                  <a:lnTo>
                    <a:pt x="35649" y="9433"/>
                  </a:lnTo>
                  <a:lnTo>
                    <a:pt x="57501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481137" y="0"/>
                  </a:lnTo>
                  <a:lnTo>
                    <a:pt x="1485827" y="0"/>
                  </a:lnTo>
                  <a:lnTo>
                    <a:pt x="1490472" y="457"/>
                  </a:lnTo>
                  <a:lnTo>
                    <a:pt x="1495073" y="1372"/>
                  </a:lnTo>
                  <a:lnTo>
                    <a:pt x="1499673" y="2287"/>
                  </a:lnTo>
                  <a:lnTo>
                    <a:pt x="1531651" y="20923"/>
                  </a:lnTo>
                  <a:lnTo>
                    <a:pt x="1534967" y="24240"/>
                  </a:lnTo>
                  <a:lnTo>
                    <a:pt x="1551201" y="57500"/>
                  </a:lnTo>
                  <a:lnTo>
                    <a:pt x="1552117" y="62101"/>
                  </a:lnTo>
                  <a:lnTo>
                    <a:pt x="1552575" y="66746"/>
                  </a:lnTo>
                  <a:lnTo>
                    <a:pt x="1552575" y="71437"/>
                  </a:lnTo>
                  <a:lnTo>
                    <a:pt x="1552575" y="1309687"/>
                  </a:lnTo>
                  <a:lnTo>
                    <a:pt x="1552575" y="1314377"/>
                  </a:lnTo>
                  <a:lnTo>
                    <a:pt x="1552117" y="1319023"/>
                  </a:lnTo>
                  <a:lnTo>
                    <a:pt x="1551202" y="1323623"/>
                  </a:lnTo>
                  <a:lnTo>
                    <a:pt x="1550286" y="1328224"/>
                  </a:lnTo>
                  <a:lnTo>
                    <a:pt x="1528334" y="1363517"/>
                  </a:lnTo>
                  <a:lnTo>
                    <a:pt x="1490472" y="1380667"/>
                  </a:lnTo>
                  <a:lnTo>
                    <a:pt x="1481137" y="1381124"/>
                  </a:lnTo>
                  <a:lnTo>
                    <a:pt x="71438" y="1381124"/>
                  </a:lnTo>
                  <a:lnTo>
                    <a:pt x="31749" y="1369084"/>
                  </a:lnTo>
                  <a:lnTo>
                    <a:pt x="5438" y="1337025"/>
                  </a:lnTo>
                  <a:lnTo>
                    <a:pt x="0" y="1314377"/>
                  </a:lnTo>
                  <a:lnTo>
                    <a:pt x="0" y="1309687"/>
                  </a:lnTo>
                  <a:close/>
                </a:path>
              </a:pathLst>
            </a:custGeom>
            <a:noFill/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47" name="Google Shape;247;p25"/>
          <p:cNvSpPr txBox="1"/>
          <p:nvPr/>
        </p:nvSpPr>
        <p:spPr>
          <a:xfrm>
            <a:off x="6375875" y="1894300"/>
            <a:ext cx="9474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Week 7-8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latin typeface="Verdana"/>
                <a:ea typeface="Verdana"/>
                <a:cs typeface="Verdana"/>
                <a:sym typeface="Verdana"/>
              </a:rPr>
              <a:t>Evaluation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25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rPr>
              <a:t>Not Started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48" name="Google Shape;248;p25"/>
          <p:cNvGrpSpPr/>
          <p:nvPr/>
        </p:nvGrpSpPr>
        <p:grpSpPr>
          <a:xfrm>
            <a:off x="7561695" y="1776708"/>
            <a:ext cx="1317907" cy="938516"/>
            <a:chOff x="8853485" y="2614612"/>
            <a:chExt cx="1543050" cy="1381125"/>
          </a:xfrm>
        </p:grpSpPr>
        <p:sp>
          <p:nvSpPr>
            <p:cNvPr id="249" name="Google Shape;249;p25"/>
            <p:cNvSpPr/>
            <p:nvPr/>
          </p:nvSpPr>
          <p:spPr>
            <a:xfrm>
              <a:off x="8853485" y="2614612"/>
              <a:ext cx="1543050" cy="1381125"/>
            </a:xfrm>
            <a:custGeom>
              <a:rect b="b" l="l" r="r" t="t"/>
              <a:pathLst>
                <a:path extrusionOk="0" h="1381125" w="1543050">
                  <a:moveTo>
                    <a:pt x="1476303" y="1381124"/>
                  </a:moveTo>
                  <a:lnTo>
                    <a:pt x="66747" y="1381124"/>
                  </a:lnTo>
                  <a:lnTo>
                    <a:pt x="62100" y="1380667"/>
                  </a:lnTo>
                  <a:lnTo>
                    <a:pt x="24240" y="1363517"/>
                  </a:lnTo>
                  <a:lnTo>
                    <a:pt x="2287" y="1328224"/>
                  </a:lnTo>
                  <a:lnTo>
                    <a:pt x="0" y="1314377"/>
                  </a:lnTo>
                  <a:lnTo>
                    <a:pt x="0" y="1309687"/>
                  </a:lnTo>
                  <a:lnTo>
                    <a:pt x="0" y="66746"/>
                  </a:lnTo>
                  <a:lnTo>
                    <a:pt x="14644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1476303" y="0"/>
                  </a:lnTo>
                  <a:lnTo>
                    <a:pt x="1515200" y="14645"/>
                  </a:lnTo>
                  <a:lnTo>
                    <a:pt x="1539406" y="48433"/>
                  </a:lnTo>
                  <a:lnTo>
                    <a:pt x="1543050" y="66746"/>
                  </a:lnTo>
                  <a:lnTo>
                    <a:pt x="1543050" y="1314377"/>
                  </a:lnTo>
                  <a:lnTo>
                    <a:pt x="1528403" y="1353275"/>
                  </a:lnTo>
                  <a:lnTo>
                    <a:pt x="1494616" y="1377481"/>
                  </a:lnTo>
                  <a:lnTo>
                    <a:pt x="1480948" y="1380667"/>
                  </a:lnTo>
                  <a:lnTo>
                    <a:pt x="1476303" y="1381124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50" name="Google Shape;250;p25"/>
            <p:cNvSpPr/>
            <p:nvPr/>
          </p:nvSpPr>
          <p:spPr>
            <a:xfrm>
              <a:off x="8853485" y="2614612"/>
              <a:ext cx="1543050" cy="1381125"/>
            </a:xfrm>
            <a:custGeom>
              <a:rect b="b" l="l" r="r" t="t"/>
              <a:pathLst>
                <a:path extrusionOk="0" h="1381125" w="1543050">
                  <a:moveTo>
                    <a:pt x="0" y="13096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57500" y="1372"/>
                  </a:lnTo>
                  <a:lnTo>
                    <a:pt x="62100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1471612" y="0"/>
                  </a:lnTo>
                  <a:lnTo>
                    <a:pt x="1476303" y="0"/>
                  </a:lnTo>
                  <a:lnTo>
                    <a:pt x="1480948" y="457"/>
                  </a:lnTo>
                  <a:lnTo>
                    <a:pt x="1485549" y="1372"/>
                  </a:lnTo>
                  <a:lnTo>
                    <a:pt x="1490150" y="2287"/>
                  </a:lnTo>
                  <a:lnTo>
                    <a:pt x="1511300" y="12039"/>
                  </a:lnTo>
                  <a:lnTo>
                    <a:pt x="1515200" y="14645"/>
                  </a:lnTo>
                  <a:lnTo>
                    <a:pt x="1518808" y="17606"/>
                  </a:lnTo>
                  <a:lnTo>
                    <a:pt x="1522126" y="20923"/>
                  </a:lnTo>
                  <a:lnTo>
                    <a:pt x="1525443" y="24240"/>
                  </a:lnTo>
                  <a:lnTo>
                    <a:pt x="1528403" y="27848"/>
                  </a:lnTo>
                  <a:lnTo>
                    <a:pt x="1531009" y="31748"/>
                  </a:lnTo>
                  <a:lnTo>
                    <a:pt x="1533614" y="35649"/>
                  </a:lnTo>
                  <a:lnTo>
                    <a:pt x="1541677" y="57500"/>
                  </a:lnTo>
                  <a:lnTo>
                    <a:pt x="1542592" y="62101"/>
                  </a:lnTo>
                  <a:lnTo>
                    <a:pt x="1543050" y="66746"/>
                  </a:lnTo>
                  <a:lnTo>
                    <a:pt x="1543050" y="71437"/>
                  </a:lnTo>
                  <a:lnTo>
                    <a:pt x="1543050" y="1309687"/>
                  </a:lnTo>
                  <a:lnTo>
                    <a:pt x="1543050" y="1314377"/>
                  </a:lnTo>
                  <a:lnTo>
                    <a:pt x="1542592" y="1319023"/>
                  </a:lnTo>
                  <a:lnTo>
                    <a:pt x="1541677" y="1323623"/>
                  </a:lnTo>
                  <a:lnTo>
                    <a:pt x="1540762" y="1328224"/>
                  </a:lnTo>
                  <a:lnTo>
                    <a:pt x="1531009" y="1349375"/>
                  </a:lnTo>
                  <a:lnTo>
                    <a:pt x="1528403" y="1353275"/>
                  </a:lnTo>
                  <a:lnTo>
                    <a:pt x="1511300" y="1369084"/>
                  </a:lnTo>
                  <a:lnTo>
                    <a:pt x="1507400" y="1371690"/>
                  </a:lnTo>
                  <a:lnTo>
                    <a:pt x="1471612" y="1381124"/>
                  </a:lnTo>
                  <a:lnTo>
                    <a:pt x="71438" y="1381124"/>
                  </a:lnTo>
                  <a:lnTo>
                    <a:pt x="31748" y="1369084"/>
                  </a:lnTo>
                  <a:lnTo>
                    <a:pt x="27848" y="1366478"/>
                  </a:lnTo>
                  <a:lnTo>
                    <a:pt x="24240" y="1363517"/>
                  </a:lnTo>
                  <a:lnTo>
                    <a:pt x="20923" y="1360201"/>
                  </a:lnTo>
                  <a:lnTo>
                    <a:pt x="17606" y="1356884"/>
                  </a:lnTo>
                  <a:lnTo>
                    <a:pt x="457" y="1319023"/>
                  </a:lnTo>
                  <a:lnTo>
                    <a:pt x="0" y="1314377"/>
                  </a:lnTo>
                  <a:lnTo>
                    <a:pt x="0" y="1309687"/>
                  </a:lnTo>
                  <a:close/>
                </a:path>
              </a:pathLst>
            </a:custGeom>
            <a:noFill/>
            <a:ln cap="flat" cmpd="sng" w="9525">
              <a:solidFill>
                <a:srgbClr val="E5E7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51" name="Google Shape;251;p25"/>
          <p:cNvSpPr txBox="1"/>
          <p:nvPr/>
        </p:nvSpPr>
        <p:spPr>
          <a:xfrm>
            <a:off x="7799611" y="1894292"/>
            <a:ext cx="839013" cy="553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D2938"/>
                </a:solidFill>
                <a:latin typeface="Trebuchet MS"/>
                <a:ea typeface="Trebuchet MS"/>
                <a:cs typeface="Trebuchet MS"/>
                <a:sym typeface="Trebuchet MS"/>
              </a:rPr>
              <a:t>Week 9-10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latin typeface="Verdana"/>
                <a:ea typeface="Verdana"/>
                <a:cs typeface="Verdana"/>
                <a:sym typeface="Verdana"/>
              </a:rPr>
              <a:t>Final Delivery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97282"/>
                </a:solidFill>
                <a:latin typeface="Verdana"/>
                <a:ea typeface="Verdana"/>
                <a:cs typeface="Verdana"/>
                <a:sym typeface="Verdana"/>
              </a:rPr>
              <a:t>Not Started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1658019" y="3111127"/>
            <a:ext cx="5828079" cy="872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629AB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Execution Approach</a:t>
            </a:r>
            <a:endParaRPr sz="12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Our project follows an iterative approach, with clear milestones and deliverables at each phase.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0" lvl="0" marL="152400" marR="15240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We're currently in the initial planning stage, focusing on research and establishing project foundations. The timeline allows for appropriate time allocation to critical phases like data collection and model development.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0" y="4906173"/>
            <a:ext cx="9144000" cy="233011"/>
          </a:xfrm>
          <a:custGeom>
            <a:rect b="b" l="l" r="r" t="t"/>
            <a:pathLst>
              <a:path extrusionOk="0" h="342900" w="10706100">
                <a:moveTo>
                  <a:pt x="10706099" y="342899"/>
                </a:moveTo>
                <a:lnTo>
                  <a:pt x="0" y="3428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342899"/>
                </a:lnTo>
                <a:close/>
              </a:path>
            </a:pathLst>
          </a:custGeom>
          <a:solidFill>
            <a:srgbClr val="F2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4" name="Google Shape;254;p25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DKomplex: Intelligent Pricing Forecast Model</a:t>
            </a:r>
            <a:endParaRPr/>
          </a:p>
        </p:txBody>
      </p:sp>
      <p:sp>
        <p:nvSpPr>
          <p:cNvPr id="255" name="Google Shape;255;p25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/>
          <p:nvPr>
            <p:ph type="title"/>
          </p:nvPr>
        </p:nvSpPr>
        <p:spPr>
          <a:xfrm>
            <a:off x="249480" y="62568"/>
            <a:ext cx="3005697" cy="276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Contributions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3123886" y="593315"/>
            <a:ext cx="2896142" cy="203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3629AB"/>
                </a:solidFill>
                <a:latin typeface="Trebuchet MS"/>
                <a:ea typeface="Trebuchet MS"/>
                <a:cs typeface="Trebuchet MS"/>
                <a:sym typeface="Trebuchet MS"/>
              </a:rPr>
              <a:t>Team Roles &amp; Responsibilities</a:t>
            </a:r>
            <a:endParaRPr sz="14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grpSp>
        <p:nvGrpSpPr>
          <p:cNvPr id="262" name="Google Shape;262;p26"/>
          <p:cNvGrpSpPr/>
          <p:nvPr/>
        </p:nvGrpSpPr>
        <p:grpSpPr>
          <a:xfrm>
            <a:off x="264395" y="909389"/>
            <a:ext cx="4238456" cy="964406"/>
            <a:chOff x="309562" y="1338262"/>
            <a:chExt cx="4962525" cy="1419225"/>
          </a:xfrm>
        </p:grpSpPr>
        <p:sp>
          <p:nvSpPr>
            <p:cNvPr id="263" name="Google Shape;263;p26"/>
            <p:cNvSpPr/>
            <p:nvPr/>
          </p:nvSpPr>
          <p:spPr>
            <a:xfrm>
              <a:off x="309562" y="1338262"/>
              <a:ext cx="4962525" cy="1419225"/>
            </a:xfrm>
            <a:custGeom>
              <a:rect b="b" l="l" r="r" t="t"/>
              <a:pathLst>
                <a:path extrusionOk="0" h="1419225" w="4962525">
                  <a:moveTo>
                    <a:pt x="4895777" y="1419224"/>
                  </a:moveTo>
                  <a:lnTo>
                    <a:pt x="66746" y="1419224"/>
                  </a:lnTo>
                  <a:lnTo>
                    <a:pt x="62101" y="1418766"/>
                  </a:lnTo>
                  <a:lnTo>
                    <a:pt x="24240" y="1401617"/>
                  </a:lnTo>
                  <a:lnTo>
                    <a:pt x="2287" y="1366324"/>
                  </a:lnTo>
                  <a:lnTo>
                    <a:pt x="0" y="1352477"/>
                  </a:lnTo>
                  <a:lnTo>
                    <a:pt x="0" y="1347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895777" y="0"/>
                  </a:lnTo>
                  <a:lnTo>
                    <a:pt x="4934675" y="14645"/>
                  </a:lnTo>
                  <a:lnTo>
                    <a:pt x="4958881" y="48432"/>
                  </a:lnTo>
                  <a:lnTo>
                    <a:pt x="4962524" y="66746"/>
                  </a:lnTo>
                  <a:lnTo>
                    <a:pt x="4962524" y="1352477"/>
                  </a:lnTo>
                  <a:lnTo>
                    <a:pt x="4947878" y="1391375"/>
                  </a:lnTo>
                  <a:lnTo>
                    <a:pt x="4914090" y="1415581"/>
                  </a:lnTo>
                  <a:lnTo>
                    <a:pt x="4900423" y="1418766"/>
                  </a:lnTo>
                  <a:lnTo>
                    <a:pt x="4895777" y="1419224"/>
                  </a:lnTo>
                  <a:close/>
                </a:path>
              </a:pathLst>
            </a:custGeom>
            <a:solidFill>
              <a:srgbClr val="EDF2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309562" y="1338262"/>
              <a:ext cx="4962525" cy="1419225"/>
            </a:xfrm>
            <a:custGeom>
              <a:rect b="b" l="l" r="r" t="t"/>
              <a:pathLst>
                <a:path extrusionOk="0" h="1419225" w="4962525">
                  <a:moveTo>
                    <a:pt x="0" y="1347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71437" y="0"/>
                  </a:lnTo>
                  <a:lnTo>
                    <a:pt x="4891087" y="0"/>
                  </a:lnTo>
                  <a:lnTo>
                    <a:pt x="4930774" y="12039"/>
                  </a:lnTo>
                  <a:lnTo>
                    <a:pt x="4934675" y="14645"/>
                  </a:lnTo>
                  <a:lnTo>
                    <a:pt x="4938284" y="17606"/>
                  </a:lnTo>
                  <a:lnTo>
                    <a:pt x="4941600" y="20923"/>
                  </a:lnTo>
                  <a:lnTo>
                    <a:pt x="4944917" y="24240"/>
                  </a:lnTo>
                  <a:lnTo>
                    <a:pt x="4961151" y="57500"/>
                  </a:lnTo>
                  <a:lnTo>
                    <a:pt x="4962067" y="62101"/>
                  </a:lnTo>
                  <a:lnTo>
                    <a:pt x="4962524" y="66746"/>
                  </a:lnTo>
                  <a:lnTo>
                    <a:pt x="4962524" y="71437"/>
                  </a:lnTo>
                  <a:lnTo>
                    <a:pt x="4962524" y="1347787"/>
                  </a:lnTo>
                  <a:lnTo>
                    <a:pt x="4962524" y="1352478"/>
                  </a:lnTo>
                  <a:lnTo>
                    <a:pt x="4962067" y="1357123"/>
                  </a:lnTo>
                  <a:lnTo>
                    <a:pt x="4961151" y="1361724"/>
                  </a:lnTo>
                  <a:lnTo>
                    <a:pt x="4960236" y="1366324"/>
                  </a:lnTo>
                  <a:lnTo>
                    <a:pt x="4938284" y="1401617"/>
                  </a:lnTo>
                  <a:lnTo>
                    <a:pt x="4900423" y="1418767"/>
                  </a:lnTo>
                  <a:lnTo>
                    <a:pt x="4891087" y="1419224"/>
                  </a:lnTo>
                  <a:lnTo>
                    <a:pt x="71437" y="1419224"/>
                  </a:lnTo>
                  <a:lnTo>
                    <a:pt x="31748" y="1407185"/>
                  </a:lnTo>
                  <a:lnTo>
                    <a:pt x="27848" y="1404579"/>
                  </a:lnTo>
                  <a:lnTo>
                    <a:pt x="3642" y="1370791"/>
                  </a:lnTo>
                  <a:lnTo>
                    <a:pt x="0" y="1352478"/>
                  </a:lnTo>
                  <a:lnTo>
                    <a:pt x="0" y="1347787"/>
                  </a:lnTo>
                  <a:close/>
                </a:path>
              </a:pathLst>
            </a:custGeom>
            <a:noFill/>
            <a:ln cap="flat" cmpd="sng" w="9525">
              <a:solidFill>
                <a:srgbClr val="C6D1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grpSp>
        <p:nvGrpSpPr>
          <p:cNvPr id="265" name="Google Shape;265;p26"/>
          <p:cNvGrpSpPr/>
          <p:nvPr/>
        </p:nvGrpSpPr>
        <p:grpSpPr>
          <a:xfrm>
            <a:off x="226476" y="3034193"/>
            <a:ext cx="8690130" cy="1037715"/>
            <a:chOff x="265163" y="4465332"/>
            <a:chExt cx="10174605" cy="1527175"/>
          </a:xfrm>
        </p:grpSpPr>
        <p:sp>
          <p:nvSpPr>
            <p:cNvPr id="266" name="Google Shape;266;p26"/>
            <p:cNvSpPr/>
            <p:nvPr/>
          </p:nvSpPr>
          <p:spPr>
            <a:xfrm>
              <a:off x="314324" y="4505324"/>
              <a:ext cx="10077450" cy="1428750"/>
            </a:xfrm>
            <a:custGeom>
              <a:rect b="b" l="l" r="r" t="t"/>
              <a:pathLst>
                <a:path extrusionOk="0" h="1428750" w="10077450">
                  <a:moveTo>
                    <a:pt x="10015151" y="1428749"/>
                  </a:moveTo>
                  <a:lnTo>
                    <a:pt x="62297" y="1428749"/>
                  </a:lnTo>
                  <a:lnTo>
                    <a:pt x="57961" y="1428322"/>
                  </a:lnTo>
                  <a:lnTo>
                    <a:pt x="22624" y="1412317"/>
                  </a:lnTo>
                  <a:lnTo>
                    <a:pt x="2135" y="1379375"/>
                  </a:lnTo>
                  <a:lnTo>
                    <a:pt x="0" y="1366452"/>
                  </a:lnTo>
                  <a:lnTo>
                    <a:pt x="0" y="1362074"/>
                  </a:lnTo>
                  <a:lnTo>
                    <a:pt x="0" y="62296"/>
                  </a:lnTo>
                  <a:lnTo>
                    <a:pt x="13669" y="25991"/>
                  </a:lnTo>
                  <a:lnTo>
                    <a:pt x="45204" y="3399"/>
                  </a:lnTo>
                  <a:lnTo>
                    <a:pt x="62297" y="0"/>
                  </a:lnTo>
                  <a:lnTo>
                    <a:pt x="10015151" y="0"/>
                  </a:lnTo>
                  <a:lnTo>
                    <a:pt x="10051455" y="13668"/>
                  </a:lnTo>
                  <a:lnTo>
                    <a:pt x="10074047" y="45203"/>
                  </a:lnTo>
                  <a:lnTo>
                    <a:pt x="10077448" y="62296"/>
                  </a:lnTo>
                  <a:lnTo>
                    <a:pt x="10077448" y="1366452"/>
                  </a:lnTo>
                  <a:lnTo>
                    <a:pt x="10063779" y="1402757"/>
                  </a:lnTo>
                  <a:lnTo>
                    <a:pt x="10032243" y="1425349"/>
                  </a:lnTo>
                  <a:lnTo>
                    <a:pt x="10019486" y="1428322"/>
                  </a:lnTo>
                  <a:lnTo>
                    <a:pt x="10015151" y="1428749"/>
                  </a:lnTo>
                  <a:close/>
                </a:path>
              </a:pathLst>
            </a:custGeom>
            <a:solidFill>
              <a:srgbClr val="F0FDF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265163" y="4465332"/>
              <a:ext cx="10174605" cy="1527175"/>
            </a:xfrm>
            <a:custGeom>
              <a:rect b="b" l="l" r="r" t="t"/>
              <a:pathLst>
                <a:path extrusionOk="0" h="1527175" w="10174605">
                  <a:moveTo>
                    <a:pt x="10174224" y="0"/>
                  </a:moveTo>
                  <a:lnTo>
                    <a:pt x="10126599" y="0"/>
                  </a:lnTo>
                  <a:lnTo>
                    <a:pt x="10126599" y="106680"/>
                  </a:lnTo>
                  <a:lnTo>
                    <a:pt x="10126599" y="1402080"/>
                  </a:lnTo>
                  <a:lnTo>
                    <a:pt x="10115372" y="1439125"/>
                  </a:lnTo>
                  <a:lnTo>
                    <a:pt x="10085438" y="1463675"/>
                  </a:lnTo>
                  <a:lnTo>
                    <a:pt x="10059924" y="1468755"/>
                  </a:lnTo>
                  <a:lnTo>
                    <a:pt x="115824" y="1468755"/>
                  </a:lnTo>
                  <a:lnTo>
                    <a:pt x="78778" y="1457515"/>
                  </a:lnTo>
                  <a:lnTo>
                    <a:pt x="54229" y="1427594"/>
                  </a:lnTo>
                  <a:lnTo>
                    <a:pt x="49149" y="1402080"/>
                  </a:lnTo>
                  <a:lnTo>
                    <a:pt x="49149" y="106680"/>
                  </a:lnTo>
                  <a:lnTo>
                    <a:pt x="60375" y="69621"/>
                  </a:lnTo>
                  <a:lnTo>
                    <a:pt x="90309" y="45072"/>
                  </a:lnTo>
                  <a:lnTo>
                    <a:pt x="115824" y="40005"/>
                  </a:lnTo>
                  <a:lnTo>
                    <a:pt x="10059924" y="40005"/>
                  </a:lnTo>
                  <a:lnTo>
                    <a:pt x="10096983" y="51219"/>
                  </a:lnTo>
                  <a:lnTo>
                    <a:pt x="10121532" y="81153"/>
                  </a:lnTo>
                  <a:lnTo>
                    <a:pt x="10126599" y="106680"/>
                  </a:lnTo>
                  <a:lnTo>
                    <a:pt x="10126599" y="0"/>
                  </a:lnTo>
                  <a:lnTo>
                    <a:pt x="0" y="0"/>
                  </a:lnTo>
                  <a:lnTo>
                    <a:pt x="0" y="1527048"/>
                  </a:lnTo>
                  <a:lnTo>
                    <a:pt x="10174224" y="1527048"/>
                  </a:lnTo>
                  <a:lnTo>
                    <a:pt x="10174224" y="1468755"/>
                  </a:lnTo>
                  <a:lnTo>
                    <a:pt x="10174224" y="40005"/>
                  </a:lnTo>
                  <a:lnTo>
                    <a:pt x="10174224" y="0"/>
                  </a:lnTo>
                  <a:close/>
                </a:path>
              </a:pathLst>
            </a:custGeom>
            <a:solidFill>
              <a:srgbClr val="000000">
                <a:alpha val="102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308074" y="4505335"/>
              <a:ext cx="10077450" cy="1428750"/>
            </a:xfrm>
            <a:custGeom>
              <a:rect b="b" l="l" r="r" t="t"/>
              <a:pathLst>
                <a:path extrusionOk="0" h="1428750" w="10077450">
                  <a:moveTo>
                    <a:pt x="0" y="136207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6433" y="22623"/>
                  </a:lnTo>
                  <a:lnTo>
                    <a:pt x="41159" y="5075"/>
                  </a:lnTo>
                  <a:lnTo>
                    <a:pt x="45204" y="3399"/>
                  </a:lnTo>
                  <a:lnTo>
                    <a:pt x="49373" y="2134"/>
                  </a:lnTo>
                  <a:lnTo>
                    <a:pt x="53667" y="1281"/>
                  </a:lnTo>
                  <a:lnTo>
                    <a:pt x="57961" y="427"/>
                  </a:lnTo>
                  <a:lnTo>
                    <a:pt x="62297" y="0"/>
                  </a:lnTo>
                  <a:lnTo>
                    <a:pt x="66674" y="0"/>
                  </a:lnTo>
                  <a:lnTo>
                    <a:pt x="10010774" y="0"/>
                  </a:lnTo>
                  <a:lnTo>
                    <a:pt x="10015151" y="0"/>
                  </a:lnTo>
                  <a:lnTo>
                    <a:pt x="10019486" y="427"/>
                  </a:lnTo>
                  <a:lnTo>
                    <a:pt x="10023780" y="1281"/>
                  </a:lnTo>
                  <a:lnTo>
                    <a:pt x="10028074" y="2134"/>
                  </a:lnTo>
                  <a:lnTo>
                    <a:pt x="10047814" y="11236"/>
                  </a:lnTo>
                  <a:lnTo>
                    <a:pt x="10051455" y="13668"/>
                  </a:lnTo>
                  <a:lnTo>
                    <a:pt x="10066210" y="29631"/>
                  </a:lnTo>
                  <a:lnTo>
                    <a:pt x="10068643" y="33271"/>
                  </a:lnTo>
                  <a:lnTo>
                    <a:pt x="10070697" y="37113"/>
                  </a:lnTo>
                  <a:lnTo>
                    <a:pt x="10072371" y="41158"/>
                  </a:lnTo>
                  <a:lnTo>
                    <a:pt x="10074047" y="45203"/>
                  </a:lnTo>
                  <a:lnTo>
                    <a:pt x="10077449" y="66674"/>
                  </a:lnTo>
                  <a:lnTo>
                    <a:pt x="10077449" y="1362074"/>
                  </a:lnTo>
                  <a:lnTo>
                    <a:pt x="10072371" y="1387589"/>
                  </a:lnTo>
                  <a:lnTo>
                    <a:pt x="10070697" y="1391634"/>
                  </a:lnTo>
                  <a:lnTo>
                    <a:pt x="10068643" y="1395476"/>
                  </a:lnTo>
                  <a:lnTo>
                    <a:pt x="10066210" y="1399117"/>
                  </a:lnTo>
                  <a:lnTo>
                    <a:pt x="10063779" y="1402757"/>
                  </a:lnTo>
                  <a:lnTo>
                    <a:pt x="10047814" y="1417512"/>
                  </a:lnTo>
                  <a:lnTo>
                    <a:pt x="10044174" y="1419945"/>
                  </a:lnTo>
                  <a:lnTo>
                    <a:pt x="10010774" y="1428749"/>
                  </a:lnTo>
                  <a:lnTo>
                    <a:pt x="66674" y="1428749"/>
                  </a:lnTo>
                  <a:lnTo>
                    <a:pt x="62297" y="1428749"/>
                  </a:lnTo>
                  <a:lnTo>
                    <a:pt x="57961" y="1428322"/>
                  </a:lnTo>
                  <a:lnTo>
                    <a:pt x="53667" y="1427468"/>
                  </a:lnTo>
                  <a:lnTo>
                    <a:pt x="49373" y="1426614"/>
                  </a:lnTo>
                  <a:lnTo>
                    <a:pt x="16433" y="1406125"/>
                  </a:lnTo>
                  <a:lnTo>
                    <a:pt x="5075" y="1387589"/>
                  </a:lnTo>
                  <a:lnTo>
                    <a:pt x="3399" y="1383545"/>
                  </a:lnTo>
                  <a:lnTo>
                    <a:pt x="2135" y="1379375"/>
                  </a:lnTo>
                  <a:lnTo>
                    <a:pt x="1281" y="1375081"/>
                  </a:lnTo>
                  <a:lnTo>
                    <a:pt x="427" y="1370788"/>
                  </a:lnTo>
                  <a:lnTo>
                    <a:pt x="0" y="1366452"/>
                  </a:lnTo>
                  <a:lnTo>
                    <a:pt x="0" y="1362074"/>
                  </a:lnTo>
                  <a:close/>
                </a:path>
              </a:pathLst>
            </a:custGeom>
            <a:noFill/>
            <a:ln cap="flat" cmpd="sng" w="19025">
              <a:solidFill>
                <a:srgbClr val="7AF1A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69" name="Google Shape;269;p26"/>
          <p:cNvSpPr txBox="1"/>
          <p:nvPr/>
        </p:nvSpPr>
        <p:spPr>
          <a:xfrm>
            <a:off x="355250" y="881475"/>
            <a:ext cx="2997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629AB"/>
                </a:solidFill>
                <a:latin typeface="Trebuchet MS"/>
                <a:ea typeface="Trebuchet MS"/>
                <a:cs typeface="Trebuchet MS"/>
                <a:sym typeface="Trebuchet MS"/>
              </a:rPr>
              <a:t>Chika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Feature Engineer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2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Develops features based on economic factors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Creates variable transformations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Optimizes feature selection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70" name="Google Shape;270;p26"/>
          <p:cNvGrpSpPr/>
          <p:nvPr/>
        </p:nvGrpSpPr>
        <p:grpSpPr>
          <a:xfrm>
            <a:off x="4641189" y="909349"/>
            <a:ext cx="4238493" cy="964363"/>
            <a:chOff x="5434011" y="1338262"/>
            <a:chExt cx="4962525" cy="1419225"/>
          </a:xfrm>
        </p:grpSpPr>
        <p:sp>
          <p:nvSpPr>
            <p:cNvPr id="271" name="Google Shape;271;p26"/>
            <p:cNvSpPr/>
            <p:nvPr/>
          </p:nvSpPr>
          <p:spPr>
            <a:xfrm>
              <a:off x="5434011" y="1338262"/>
              <a:ext cx="4962525" cy="1419225"/>
            </a:xfrm>
            <a:custGeom>
              <a:rect b="b" l="l" r="r" t="t"/>
              <a:pathLst>
                <a:path extrusionOk="0" h="1419225" w="4962525">
                  <a:moveTo>
                    <a:pt x="4895778" y="1419224"/>
                  </a:moveTo>
                  <a:lnTo>
                    <a:pt x="66747" y="1419224"/>
                  </a:lnTo>
                  <a:lnTo>
                    <a:pt x="62101" y="1418766"/>
                  </a:lnTo>
                  <a:lnTo>
                    <a:pt x="24240" y="1401617"/>
                  </a:lnTo>
                  <a:lnTo>
                    <a:pt x="2288" y="1366324"/>
                  </a:lnTo>
                  <a:lnTo>
                    <a:pt x="0" y="1352477"/>
                  </a:lnTo>
                  <a:lnTo>
                    <a:pt x="0" y="1347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4895778" y="0"/>
                  </a:lnTo>
                  <a:lnTo>
                    <a:pt x="4934675" y="14645"/>
                  </a:lnTo>
                  <a:lnTo>
                    <a:pt x="4958881" y="48432"/>
                  </a:lnTo>
                  <a:lnTo>
                    <a:pt x="4962525" y="66746"/>
                  </a:lnTo>
                  <a:lnTo>
                    <a:pt x="4962525" y="1352477"/>
                  </a:lnTo>
                  <a:lnTo>
                    <a:pt x="4947878" y="1391375"/>
                  </a:lnTo>
                  <a:lnTo>
                    <a:pt x="4914090" y="1415581"/>
                  </a:lnTo>
                  <a:lnTo>
                    <a:pt x="4900423" y="1418766"/>
                  </a:lnTo>
                  <a:lnTo>
                    <a:pt x="4895778" y="1419224"/>
                  </a:lnTo>
                  <a:close/>
                </a:path>
              </a:pathLst>
            </a:custGeom>
            <a:solidFill>
              <a:srgbClr val="EEF5F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5434011" y="1338262"/>
              <a:ext cx="4962525" cy="1419225"/>
            </a:xfrm>
            <a:custGeom>
              <a:rect b="b" l="l" r="r" t="t"/>
              <a:pathLst>
                <a:path extrusionOk="0" h="1419225" w="4962525">
                  <a:moveTo>
                    <a:pt x="0" y="1347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71438" y="0"/>
                  </a:lnTo>
                  <a:lnTo>
                    <a:pt x="4891087" y="0"/>
                  </a:lnTo>
                  <a:lnTo>
                    <a:pt x="4918424" y="5437"/>
                  </a:lnTo>
                  <a:lnTo>
                    <a:pt x="4922757" y="7232"/>
                  </a:lnTo>
                  <a:lnTo>
                    <a:pt x="4926875" y="9433"/>
                  </a:lnTo>
                  <a:lnTo>
                    <a:pt x="4930774" y="12039"/>
                  </a:lnTo>
                  <a:lnTo>
                    <a:pt x="4934675" y="14645"/>
                  </a:lnTo>
                  <a:lnTo>
                    <a:pt x="4938283" y="17606"/>
                  </a:lnTo>
                  <a:lnTo>
                    <a:pt x="4941600" y="20923"/>
                  </a:lnTo>
                  <a:lnTo>
                    <a:pt x="4944918" y="24240"/>
                  </a:lnTo>
                  <a:lnTo>
                    <a:pt x="4961151" y="57500"/>
                  </a:lnTo>
                  <a:lnTo>
                    <a:pt x="4962067" y="62101"/>
                  </a:lnTo>
                  <a:lnTo>
                    <a:pt x="4962525" y="66746"/>
                  </a:lnTo>
                  <a:lnTo>
                    <a:pt x="4962525" y="71437"/>
                  </a:lnTo>
                  <a:lnTo>
                    <a:pt x="4962525" y="1347787"/>
                  </a:lnTo>
                  <a:lnTo>
                    <a:pt x="4962525" y="1352478"/>
                  </a:lnTo>
                  <a:lnTo>
                    <a:pt x="4962067" y="1357123"/>
                  </a:lnTo>
                  <a:lnTo>
                    <a:pt x="4961151" y="1361724"/>
                  </a:lnTo>
                  <a:lnTo>
                    <a:pt x="4960236" y="1366324"/>
                  </a:lnTo>
                  <a:lnTo>
                    <a:pt x="4938283" y="1401617"/>
                  </a:lnTo>
                  <a:lnTo>
                    <a:pt x="4930774" y="1407185"/>
                  </a:lnTo>
                  <a:lnTo>
                    <a:pt x="4926875" y="1409791"/>
                  </a:lnTo>
                  <a:lnTo>
                    <a:pt x="4891087" y="1419224"/>
                  </a:lnTo>
                  <a:lnTo>
                    <a:pt x="71438" y="1419224"/>
                  </a:lnTo>
                  <a:lnTo>
                    <a:pt x="31749" y="1407185"/>
                  </a:lnTo>
                  <a:lnTo>
                    <a:pt x="5438" y="1375124"/>
                  </a:lnTo>
                  <a:lnTo>
                    <a:pt x="0" y="1352478"/>
                  </a:lnTo>
                  <a:lnTo>
                    <a:pt x="0" y="1347787"/>
                  </a:lnTo>
                  <a:close/>
                </a:path>
              </a:pathLst>
            </a:custGeom>
            <a:noFill/>
            <a:ln cap="flat" cmpd="sng" w="9525">
              <a:solidFill>
                <a:srgbClr val="BDDA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73" name="Google Shape;273;p26"/>
          <p:cNvSpPr txBox="1"/>
          <p:nvPr/>
        </p:nvSpPr>
        <p:spPr>
          <a:xfrm>
            <a:off x="4747825" y="886363"/>
            <a:ext cx="22497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93BB8"/>
                </a:solidFill>
                <a:latin typeface="Trebuchet MS"/>
                <a:ea typeface="Trebuchet MS"/>
                <a:cs typeface="Trebuchet MS"/>
                <a:sym typeface="Trebuchet MS"/>
              </a:rPr>
              <a:t>Daniel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Evaluation Analyst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2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Deﬁnes evaluation metrics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Analyzes model output accuracy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Prepares ﬁnal reports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74" name="Google Shape;274;p26"/>
          <p:cNvGrpSpPr/>
          <p:nvPr/>
        </p:nvGrpSpPr>
        <p:grpSpPr>
          <a:xfrm>
            <a:off x="264395" y="1983829"/>
            <a:ext cx="4238456" cy="964406"/>
            <a:chOff x="309562" y="2919412"/>
            <a:chExt cx="4962525" cy="1419225"/>
          </a:xfrm>
        </p:grpSpPr>
        <p:sp>
          <p:nvSpPr>
            <p:cNvPr id="275" name="Google Shape;275;p26"/>
            <p:cNvSpPr/>
            <p:nvPr/>
          </p:nvSpPr>
          <p:spPr>
            <a:xfrm>
              <a:off x="309562" y="2919412"/>
              <a:ext cx="4962525" cy="1419225"/>
            </a:xfrm>
            <a:custGeom>
              <a:rect b="b" l="l" r="r" t="t"/>
              <a:pathLst>
                <a:path extrusionOk="0" h="1419225" w="4962525">
                  <a:moveTo>
                    <a:pt x="4895777" y="1419224"/>
                  </a:moveTo>
                  <a:lnTo>
                    <a:pt x="66746" y="1419224"/>
                  </a:lnTo>
                  <a:lnTo>
                    <a:pt x="62101" y="1418767"/>
                  </a:lnTo>
                  <a:lnTo>
                    <a:pt x="24240" y="1401617"/>
                  </a:lnTo>
                  <a:lnTo>
                    <a:pt x="2287" y="1366324"/>
                  </a:lnTo>
                  <a:lnTo>
                    <a:pt x="0" y="1352478"/>
                  </a:lnTo>
                  <a:lnTo>
                    <a:pt x="0" y="1347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895777" y="0"/>
                  </a:lnTo>
                  <a:lnTo>
                    <a:pt x="4934675" y="14644"/>
                  </a:lnTo>
                  <a:lnTo>
                    <a:pt x="4958881" y="48432"/>
                  </a:lnTo>
                  <a:lnTo>
                    <a:pt x="4962524" y="66746"/>
                  </a:lnTo>
                  <a:lnTo>
                    <a:pt x="4962524" y="1352478"/>
                  </a:lnTo>
                  <a:lnTo>
                    <a:pt x="4947878" y="1391375"/>
                  </a:lnTo>
                  <a:lnTo>
                    <a:pt x="4914090" y="1415581"/>
                  </a:lnTo>
                  <a:lnTo>
                    <a:pt x="4900423" y="1418767"/>
                  </a:lnTo>
                  <a:lnTo>
                    <a:pt x="4895777" y="1419224"/>
                  </a:lnTo>
                  <a:close/>
                </a:path>
              </a:pathLst>
            </a:custGeom>
            <a:solidFill>
              <a:srgbClr val="FDFBE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309562" y="2919412"/>
              <a:ext cx="4962525" cy="1419225"/>
            </a:xfrm>
            <a:custGeom>
              <a:rect b="b" l="l" r="r" t="t"/>
              <a:pathLst>
                <a:path extrusionOk="0" h="1419225" w="4962525">
                  <a:moveTo>
                    <a:pt x="0" y="1347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891087" y="0"/>
                  </a:lnTo>
                  <a:lnTo>
                    <a:pt x="4895777" y="0"/>
                  </a:lnTo>
                  <a:lnTo>
                    <a:pt x="4900423" y="457"/>
                  </a:lnTo>
                  <a:lnTo>
                    <a:pt x="4905023" y="1372"/>
                  </a:lnTo>
                  <a:lnTo>
                    <a:pt x="4909623" y="2287"/>
                  </a:lnTo>
                  <a:lnTo>
                    <a:pt x="4941600" y="20923"/>
                  </a:lnTo>
                  <a:lnTo>
                    <a:pt x="4944917" y="24239"/>
                  </a:lnTo>
                  <a:lnTo>
                    <a:pt x="4961151" y="57500"/>
                  </a:lnTo>
                  <a:lnTo>
                    <a:pt x="4962067" y="62100"/>
                  </a:lnTo>
                  <a:lnTo>
                    <a:pt x="4962524" y="66746"/>
                  </a:lnTo>
                  <a:lnTo>
                    <a:pt x="4962524" y="71437"/>
                  </a:lnTo>
                  <a:lnTo>
                    <a:pt x="4962524" y="1347787"/>
                  </a:lnTo>
                  <a:lnTo>
                    <a:pt x="4962524" y="1352478"/>
                  </a:lnTo>
                  <a:lnTo>
                    <a:pt x="4962067" y="1357123"/>
                  </a:lnTo>
                  <a:lnTo>
                    <a:pt x="4961151" y="1361724"/>
                  </a:lnTo>
                  <a:lnTo>
                    <a:pt x="4960236" y="1366324"/>
                  </a:lnTo>
                  <a:lnTo>
                    <a:pt x="4938284" y="1401617"/>
                  </a:lnTo>
                  <a:lnTo>
                    <a:pt x="4900423" y="1418767"/>
                  </a:lnTo>
                  <a:lnTo>
                    <a:pt x="4891087" y="1419224"/>
                  </a:lnTo>
                  <a:lnTo>
                    <a:pt x="71437" y="1419224"/>
                  </a:lnTo>
                  <a:lnTo>
                    <a:pt x="44099" y="1413786"/>
                  </a:lnTo>
                  <a:lnTo>
                    <a:pt x="39765" y="1411991"/>
                  </a:lnTo>
                  <a:lnTo>
                    <a:pt x="35649" y="1409790"/>
                  </a:lnTo>
                  <a:lnTo>
                    <a:pt x="31748" y="1407184"/>
                  </a:lnTo>
                  <a:lnTo>
                    <a:pt x="27848" y="1404578"/>
                  </a:lnTo>
                  <a:lnTo>
                    <a:pt x="3642" y="1370791"/>
                  </a:lnTo>
                  <a:lnTo>
                    <a:pt x="0" y="1352478"/>
                  </a:lnTo>
                  <a:lnTo>
                    <a:pt x="0" y="1347787"/>
                  </a:lnTo>
                  <a:close/>
                </a:path>
              </a:pathLst>
            </a:custGeom>
            <a:noFill/>
            <a:ln cap="flat" cmpd="sng" w="9525">
              <a:solidFill>
                <a:srgbClr val="FEF0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77" name="Google Shape;277;p26"/>
          <p:cNvSpPr txBox="1"/>
          <p:nvPr/>
        </p:nvSpPr>
        <p:spPr>
          <a:xfrm>
            <a:off x="363377" y="1938150"/>
            <a:ext cx="24474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84A00"/>
                </a:solidFill>
                <a:latin typeface="Trebuchet MS"/>
                <a:ea typeface="Trebuchet MS"/>
                <a:cs typeface="Trebuchet MS"/>
                <a:sym typeface="Trebuchet MS"/>
              </a:rPr>
              <a:t>Nicole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Model Developer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2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Reviews AutoML documentation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Develops model training pipeline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Packages model outputs and scripts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278" name="Google Shape;278;p26"/>
          <p:cNvGrpSpPr/>
          <p:nvPr/>
        </p:nvGrpSpPr>
        <p:grpSpPr>
          <a:xfrm>
            <a:off x="4641189" y="1983740"/>
            <a:ext cx="4238493" cy="964363"/>
            <a:chOff x="5434011" y="2919412"/>
            <a:chExt cx="4962525" cy="1419225"/>
          </a:xfrm>
        </p:grpSpPr>
        <p:sp>
          <p:nvSpPr>
            <p:cNvPr id="279" name="Google Shape;279;p26"/>
            <p:cNvSpPr/>
            <p:nvPr/>
          </p:nvSpPr>
          <p:spPr>
            <a:xfrm>
              <a:off x="5434011" y="2919412"/>
              <a:ext cx="4962525" cy="1419225"/>
            </a:xfrm>
            <a:custGeom>
              <a:rect b="b" l="l" r="r" t="t"/>
              <a:pathLst>
                <a:path extrusionOk="0" h="1419225" w="4962525">
                  <a:moveTo>
                    <a:pt x="4895778" y="1419224"/>
                  </a:moveTo>
                  <a:lnTo>
                    <a:pt x="66747" y="1419224"/>
                  </a:lnTo>
                  <a:lnTo>
                    <a:pt x="62101" y="1418767"/>
                  </a:lnTo>
                  <a:lnTo>
                    <a:pt x="24240" y="1401617"/>
                  </a:lnTo>
                  <a:lnTo>
                    <a:pt x="2288" y="1366324"/>
                  </a:lnTo>
                  <a:lnTo>
                    <a:pt x="0" y="1352478"/>
                  </a:lnTo>
                  <a:lnTo>
                    <a:pt x="0" y="13477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4895778" y="0"/>
                  </a:lnTo>
                  <a:lnTo>
                    <a:pt x="4934675" y="14644"/>
                  </a:lnTo>
                  <a:lnTo>
                    <a:pt x="4958881" y="48432"/>
                  </a:lnTo>
                  <a:lnTo>
                    <a:pt x="4962525" y="66746"/>
                  </a:lnTo>
                  <a:lnTo>
                    <a:pt x="4962525" y="1352478"/>
                  </a:lnTo>
                  <a:lnTo>
                    <a:pt x="4947878" y="1391375"/>
                  </a:lnTo>
                  <a:lnTo>
                    <a:pt x="4914090" y="1415581"/>
                  </a:lnTo>
                  <a:lnTo>
                    <a:pt x="4900423" y="1418767"/>
                  </a:lnTo>
                  <a:lnTo>
                    <a:pt x="4895778" y="1419224"/>
                  </a:lnTo>
                  <a:close/>
                </a:path>
              </a:pathLst>
            </a:custGeom>
            <a:solidFill>
              <a:srgbClr val="F9F5F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5434011" y="2919412"/>
              <a:ext cx="4962525" cy="1419225"/>
            </a:xfrm>
            <a:custGeom>
              <a:rect b="b" l="l" r="r" t="t"/>
              <a:pathLst>
                <a:path extrusionOk="0" h="1419225" w="4962525">
                  <a:moveTo>
                    <a:pt x="0" y="13477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7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4"/>
                  </a:lnTo>
                  <a:lnTo>
                    <a:pt x="31748" y="12038"/>
                  </a:lnTo>
                  <a:lnTo>
                    <a:pt x="35648" y="9432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891087" y="0"/>
                  </a:lnTo>
                  <a:lnTo>
                    <a:pt x="4895778" y="0"/>
                  </a:lnTo>
                  <a:lnTo>
                    <a:pt x="4900423" y="457"/>
                  </a:lnTo>
                  <a:lnTo>
                    <a:pt x="4905023" y="1372"/>
                  </a:lnTo>
                  <a:lnTo>
                    <a:pt x="4909624" y="2287"/>
                  </a:lnTo>
                  <a:lnTo>
                    <a:pt x="4930774" y="12038"/>
                  </a:lnTo>
                  <a:lnTo>
                    <a:pt x="4934675" y="14644"/>
                  </a:lnTo>
                  <a:lnTo>
                    <a:pt x="4938283" y="17606"/>
                  </a:lnTo>
                  <a:lnTo>
                    <a:pt x="4941600" y="20923"/>
                  </a:lnTo>
                  <a:lnTo>
                    <a:pt x="4944918" y="24239"/>
                  </a:lnTo>
                  <a:lnTo>
                    <a:pt x="4947878" y="27848"/>
                  </a:lnTo>
                  <a:lnTo>
                    <a:pt x="4950484" y="31748"/>
                  </a:lnTo>
                  <a:lnTo>
                    <a:pt x="4953089" y="35648"/>
                  </a:lnTo>
                  <a:lnTo>
                    <a:pt x="4961151" y="57500"/>
                  </a:lnTo>
                  <a:lnTo>
                    <a:pt x="4962067" y="62100"/>
                  </a:lnTo>
                  <a:lnTo>
                    <a:pt x="4962525" y="66746"/>
                  </a:lnTo>
                  <a:lnTo>
                    <a:pt x="4962525" y="71437"/>
                  </a:lnTo>
                  <a:lnTo>
                    <a:pt x="4962525" y="1347787"/>
                  </a:lnTo>
                  <a:lnTo>
                    <a:pt x="4962525" y="1352478"/>
                  </a:lnTo>
                  <a:lnTo>
                    <a:pt x="4962067" y="1357123"/>
                  </a:lnTo>
                  <a:lnTo>
                    <a:pt x="4961151" y="1361724"/>
                  </a:lnTo>
                  <a:lnTo>
                    <a:pt x="4960236" y="1366324"/>
                  </a:lnTo>
                  <a:lnTo>
                    <a:pt x="4938283" y="1401617"/>
                  </a:lnTo>
                  <a:lnTo>
                    <a:pt x="4930774" y="1407185"/>
                  </a:lnTo>
                  <a:lnTo>
                    <a:pt x="4926875" y="1409791"/>
                  </a:lnTo>
                  <a:lnTo>
                    <a:pt x="4922757" y="1411991"/>
                  </a:lnTo>
                  <a:lnTo>
                    <a:pt x="4918424" y="1413786"/>
                  </a:lnTo>
                  <a:lnTo>
                    <a:pt x="4914090" y="1415581"/>
                  </a:lnTo>
                  <a:lnTo>
                    <a:pt x="4891087" y="1419224"/>
                  </a:lnTo>
                  <a:lnTo>
                    <a:pt x="71438" y="1419224"/>
                  </a:lnTo>
                  <a:lnTo>
                    <a:pt x="31749" y="1407184"/>
                  </a:lnTo>
                  <a:lnTo>
                    <a:pt x="5438" y="1375124"/>
                  </a:lnTo>
                  <a:lnTo>
                    <a:pt x="0" y="1352478"/>
                  </a:lnTo>
                  <a:lnTo>
                    <a:pt x="0" y="1347787"/>
                  </a:lnTo>
                  <a:close/>
                </a:path>
              </a:pathLst>
            </a:custGeom>
            <a:noFill/>
            <a:ln cap="flat" cmpd="sng" w="9525">
              <a:solidFill>
                <a:srgbClr val="E9D4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sp>
        <p:nvSpPr>
          <p:cNvPr id="281" name="Google Shape;281;p26"/>
          <p:cNvSpPr txBox="1"/>
          <p:nvPr/>
        </p:nvSpPr>
        <p:spPr>
          <a:xfrm>
            <a:off x="4747825" y="1938150"/>
            <a:ext cx="31872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6D11B0"/>
                </a:solidFill>
                <a:latin typeface="Trebuchet MS"/>
                <a:ea typeface="Trebuchet MS"/>
                <a:cs typeface="Trebuchet MS"/>
                <a:sym typeface="Trebuchet MS"/>
              </a:rPr>
              <a:t>Joshua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Data Engineer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317500" rtl="0" algn="l">
              <a:lnSpc>
                <a:spcPct val="131000"/>
              </a:lnSpc>
              <a:spcBef>
                <a:spcPts val="2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Prepares raw data access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31750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Integrates external data sources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Manages data pipeline documentation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363375" y="3034200"/>
            <a:ext cx="39483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16630"/>
                </a:solidFill>
                <a:latin typeface="Trebuchet MS"/>
                <a:ea typeface="Trebuchet MS"/>
                <a:cs typeface="Trebuchet MS"/>
                <a:sym typeface="Trebuchet MS"/>
              </a:rPr>
              <a:t>Debora</a:t>
            </a:r>
            <a:endParaRPr sz="11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Project Coordinator / Team Leader</a:t>
            </a:r>
            <a:endParaRPr sz="1000"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20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Coordinates team activities and inter-role synchronization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Facilitates project kickoﬀ and deﬁnes overall scope </a:t>
            </a:r>
            <a:endParaRPr sz="800">
              <a:solidFill>
                <a:srgbClr val="35415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9400" lvl="0" marL="45720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354152"/>
              </a:buClr>
              <a:buSzPts val="800"/>
              <a:buFont typeface="Verdana"/>
              <a:buChar char="●"/>
            </a:pPr>
            <a:r>
              <a:rPr lang="en" sz="800">
                <a:solidFill>
                  <a:srgbClr val="354152"/>
                </a:solidFill>
                <a:latin typeface="Verdana"/>
                <a:ea typeface="Verdana"/>
                <a:cs typeface="Verdana"/>
                <a:sym typeface="Verdana"/>
              </a:rPr>
              <a:t>Manages project timeline and deliverables tracking</a:t>
            </a:r>
            <a:endParaRPr sz="8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0" y="4906173"/>
            <a:ext cx="9144000" cy="233011"/>
          </a:xfrm>
          <a:custGeom>
            <a:rect b="b" l="l" r="r" t="t"/>
            <a:pathLst>
              <a:path extrusionOk="0" h="342900" w="10706100">
                <a:moveTo>
                  <a:pt x="10706099" y="342899"/>
                </a:moveTo>
                <a:lnTo>
                  <a:pt x="0" y="342899"/>
                </a:lnTo>
                <a:lnTo>
                  <a:pt x="0" y="0"/>
                </a:lnTo>
                <a:lnTo>
                  <a:pt x="10706099" y="0"/>
                </a:lnTo>
                <a:lnTo>
                  <a:pt x="10706099" y="342899"/>
                </a:lnTo>
                <a:close/>
              </a:path>
            </a:pathLst>
          </a:custGeom>
          <a:solidFill>
            <a:srgbClr val="F2F4F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4" name="Google Shape;284;p26"/>
          <p:cNvSpPr txBox="1"/>
          <p:nvPr>
            <p:ph idx="11" type="ftr"/>
          </p:nvPr>
        </p:nvSpPr>
        <p:spPr>
          <a:xfrm>
            <a:off x="249480" y="4949544"/>
            <a:ext cx="2427011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DKomplex: Intelligent Pricing Forecast Model</a:t>
            </a:r>
            <a:endParaRPr/>
          </a:p>
        </p:txBody>
      </p:sp>
      <p:sp>
        <p:nvSpPr>
          <p:cNvPr id="285" name="Google Shape;285;p26"/>
          <p:cNvSpPr txBox="1"/>
          <p:nvPr>
            <p:ph idx="12" type="sldNum"/>
          </p:nvPr>
        </p:nvSpPr>
        <p:spPr>
          <a:xfrm>
            <a:off x="8785923" y="4949544"/>
            <a:ext cx="141552" cy="141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75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